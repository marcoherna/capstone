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M Sans Bold" charset="1" panose="00000000000000000000"/>
      <p:regular r:id="rId16"/>
    </p:embeddedFont>
    <p:embeddedFont>
      <p:font typeface="Poppins Bold" charset="1" panose="00000800000000000000"/>
      <p:regular r:id="rId17"/>
    </p:embeddedFont>
    <p:embeddedFont>
      <p:font typeface="Poppins" charset="1" panose="00000500000000000000"/>
      <p:regular r:id="rId18"/>
    </p:embeddedFont>
    <p:embeddedFont>
      <p:font typeface="Poppins Italics" charset="1" panose="000005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fonts/font26.fntdata" Type="http://schemas.openxmlformats.org/officeDocument/2006/relationships/font"/><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etodología: Ágil (Scrum)</a:t>
            </a:r>
          </a:p>
          <a:p>
            <a:r>
              <a:rPr lang="en-US"/>
              <a:t/>
            </a:r>
          </a:p>
          <a:p>
            <a:r>
              <a:rPr lang="en-US"/>
              <a:t>Para SugoiAnime se adopta una metodología ágil con el framework Scrum por las siguientes razones:</a:t>
            </a:r>
          </a:p>
          <a:p>
            <a:r>
              <a:rPr lang="en-US"/>
              <a:t/>
            </a:r>
          </a:p>
          <a:p>
            <a:r>
              <a:rPr lang="en-US"/>
              <a:t>• Requisitos evolutivos: al tratarse de una plataforma de streaming, las necesidades del usuario cambian constantemente (nuevos géneros, funcionalidades sociales, integraciones). Scrum permite adaptarse sprint a sprint.</a:t>
            </a:r>
          </a:p>
          <a:p>
            <a:r>
              <a:rPr lang="en-US"/>
              <a:t/>
            </a:r>
          </a:p>
          <a:p>
            <a:r>
              <a:rPr lang="en-US"/>
              <a:t>• Entregas incrementales: cada sprint (2 semanas) entrega un incremento funcional — primero autenticación, luego catálogo, después streaming — permitiendo validar con usuarios reales desde etapas tempranas.</a:t>
            </a:r>
          </a:p>
          <a:p>
            <a:r>
              <a:rPr lang="en-US"/>
              <a:t/>
            </a:r>
          </a:p>
          <a:p>
            <a:r>
              <a:rPr lang="en-US"/>
              <a:t>• Equipos pequeños y autónomos: cada microservicio puede ser desarrollado por un equipo independiente, alineado con la arquitectura desacoplada del proyecto.</a:t>
            </a:r>
          </a:p>
          <a:p>
            <a:r>
              <a:rPr lang="en-US"/>
              <a:t/>
            </a:r>
          </a:p>
          <a:p>
            <a:r>
              <a:rPr lang="en-US"/>
              <a:t>• Retroalimentación continua: las reviews y retrospectivas permiten ajustar prioridades según métricas de uso y feedback de la comunidad anime.</a:t>
            </a:r>
          </a:p>
          <a:p>
            <a:r>
              <a:rPr lang="en-US"/>
              <a:t/>
            </a:r>
          </a:p>
          <a:p>
            <a:r>
              <a:rPr lang="en-US"/>
              <a:t>¿Por qué no tradicional (cascada)?</a:t>
            </a:r>
          </a:p>
          <a:p>
            <a:r>
              <a:rPr lang="en-US"/>
              <a:t>Un enfoque en cascada requiere requisitos completos desde el inicio, lo cual no es viable en un producto digital que depende de tendencias de contenido, APIs externas (AniList) y comportamiento de usuarios impredecible.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arquitectura de SugoiAnime sigue un patrón de microservicios desacoplados, organizado en capas:</a:t>
            </a:r>
          </a:p>
          <a:p>
            <a:r>
              <a:rPr lang="en-US"/>
              <a:t/>
            </a:r>
          </a:p>
          <a:p>
            <a:r>
              <a:rPr lang="en-US"/>
              <a:t>• Capa de acceso: Nginx como proxy inverso con TLS, API Gateway para enrutamiento y un CDN para contenido estático.</a:t>
            </a:r>
          </a:p>
          <a:p>
            <a:r>
              <a:rPr lang="en-US"/>
              <a:t/>
            </a:r>
          </a:p>
          <a:p>
            <a:r>
              <a:rPr lang="en-US"/>
              <a:t>• Microservicios principales: Autenticación, Catálogo e Integración, cada uno con su base de datos PostgreSQL independiente.</a:t>
            </a:r>
          </a:p>
          <a:p>
            <a:r>
              <a:rPr lang="en-US"/>
              <a:t/>
            </a:r>
          </a:p>
          <a:p>
            <a:r>
              <a:rPr lang="en-US"/>
              <a:t>• Almacenamiento multimedia: Amazon S3 gestiona videos, imágenes y metadatos, con streaming de video dedicado.</a:t>
            </a:r>
          </a:p>
          <a:p>
            <a:r>
              <a:rPr lang="en-US"/>
              <a:t/>
            </a:r>
          </a:p>
          <a:p>
            <a:r>
              <a:rPr lang="en-US"/>
              <a:t>• Integraciones externas: AniList API para metadatos de anime, pasarela de pago, motor de recomendaciones y analítica.</a:t>
            </a:r>
          </a:p>
          <a:p>
            <a:r>
              <a:rPr lang="en-US"/>
              <a:t/>
            </a:r>
          </a:p>
          <a:p>
            <a:r>
              <a:rPr lang="en-US"/>
              <a:t>• Modelo de acceso mixto: contenido gratuito y premium diferenciado por suscripción.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modelo de datos de SugoiAnime se divide en tres bases de datos independientes, siguiendo el principio de base de datos por servicio:</a:t>
            </a:r>
          </a:p>
          <a:p>
            <a:r>
              <a:rPr lang="en-US"/>
              <a:t/>
            </a:r>
          </a:p>
          <a:p>
            <a:r>
              <a:rPr lang="en-US"/>
              <a:t>• BD de Autenticación, Usuario y Suscripción: gestiona las tablas CUENTA_USUARIO (credenciales, roles), SUSCRIPCIÓN (planes, fechas, estado) y SESIÓN (tokens activos).</a:t>
            </a:r>
          </a:p>
          <a:p>
            <a:r>
              <a:rPr lang="en-US"/>
              <a:t/>
            </a:r>
          </a:p>
          <a:p>
            <a:r>
              <a:rPr lang="en-US"/>
              <a:t>• BD de Catálogo y Contenido Multimedia: almacena CONTENIDO (títulos, sinopsis, tipo), CATEGORÍA (géneros y etiquetas), EPISODIO (archivos de video, duración, orden) y CONTENIDO_CATEGORÍA como tabla intermedia many-to-many.</a:t>
            </a:r>
          </a:p>
          <a:p>
            <a:r>
              <a:rPr lang="en-US"/>
              <a:t/>
            </a:r>
          </a:p>
          <a:p>
            <a:r>
              <a:rPr lang="en-US"/>
              <a:t>• BD de Recomendaciones y Pago: incluye HISTORIAL_REPRODUCCIÓN (registro de visualización por usuario), CALIFICACIÓN (puntuaciones y reseñas), HISTORIAL_PAGO (transacciones y métodos de pago) y SUGERENCIA (recomendaciones generadas por el motor).</a:t>
            </a:r>
          </a:p>
          <a:p>
            <a:r>
              <a:rPr lang="en-US"/>
              <a:t/>
            </a:r>
          </a:p>
          <a:p>
            <a:r>
              <a:rPr lang="en-US"/>
              <a:t>Las relaciones entre tablas siguen un esquema relacional normalizado con claves foráneas que conectan usuarios con su historial, suscripciones y contenido consumido.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arquitectura de MisChauchas sigue un patrón de microservicios con las siguientes capas:</a:t>
            </a:r>
          </a:p>
          <a:p>
            <a:r>
              <a:rPr lang="en-US"/>
              <a:t/>
            </a:r>
          </a:p>
          <a:p>
            <a:r>
              <a:rPr lang="en-US"/>
              <a:t>• Cliente (Web/App): Interfaz de usuario que consume los servicios a través de un punto de entrada único.</a:t>
            </a:r>
          </a:p>
          <a:p>
            <a:r>
              <a:rPr lang="en-US"/>
              <a:t/>
            </a:r>
          </a:p>
          <a:p>
            <a:r>
              <a:rPr lang="en-US"/>
              <a:t>• API Gateway: Punto central de acceso que enruta las solicitudes hacia los microservicios correspondientes.</a:t>
            </a:r>
          </a:p>
          <a:p>
            <a:r>
              <a:rPr lang="en-US"/>
              <a:t/>
            </a:r>
          </a:p>
          <a:p>
            <a:r>
              <a:rPr lang="en-US"/>
              <a:t>• Microservicios:</a:t>
            </a:r>
          </a:p>
          <a:p>
            <a:r>
              <a:rPr lang="en-US"/>
              <a:t>  – Auth: Gestión de usuarios y autenticación mediante JWT.</a:t>
            </a:r>
          </a:p>
          <a:p>
            <a:r>
              <a:rPr lang="en-US"/>
              <a:t>  – Transacciones: Registro y categorización de ingresos y gastos.</a:t>
            </a:r>
          </a:p>
          <a:p>
            <a:r>
              <a:rPr lang="en-US"/>
              <a:t>  – Presupuestos: Definición de metas y límites mensuales por categoría.</a:t>
            </a:r>
          </a:p>
          <a:p>
            <a:r>
              <a:rPr lang="en-US"/>
              <a:t>  – Notificaciones: Envío de alertas y avisos al usuario.</a:t>
            </a:r>
          </a:p>
          <a:p>
            <a:r>
              <a:rPr lang="en-US"/>
              <a:t/>
            </a:r>
          </a:p>
          <a:p>
            <a:r>
              <a:rPr lang="en-US"/>
              <a:t>• Persistencia: Cada servicio posee su propia base de datos PostgreSQL (BD auth, BD transacc., BD presup.), garantizando independencia y escalabilidad.</a:t>
            </a:r>
          </a:p>
          <a:p>
            <a:r>
              <a:rPr lang="en-US"/>
              <a:t/>
            </a:r>
          </a:p>
          <a:p>
            <a:r>
              <a:rPr lang="en-US"/>
              <a:t>• API externa: Integración con servicios de email y notificaciones push para la comunicación con el usuario.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modelo de datos de MisChauchas se distribuye en bases de datos independientes por microservicio, garantizando desacoplamiento y escalabilidad:</a:t>
            </a:r>
          </a:p>
          <a:p>
            <a:r>
              <a:rPr lang="en-US"/>
              <a:t/>
            </a:r>
          </a:p>
          <a:p>
            <a:r>
              <a:rPr lang="en-US"/>
              <a:t>• BD Autenticación (Servicio Auth):</a:t>
            </a:r>
          </a:p>
          <a:p>
            <a:r>
              <a:rPr lang="en-US"/>
              <a:t>  – USUARIOS: id (uuid, PK), email (string), password_hash (string), creado_en (timestamp). Gestiona credenciales y sesiones.</a:t>
            </a:r>
          </a:p>
          <a:p>
            <a:r>
              <a:rPr lang="en-US"/>
              <a:t/>
            </a:r>
          </a:p>
          <a:p>
            <a:r>
              <a:rPr lang="en-US"/>
              <a:t>• BD Transacciones (Servicio Transacciones):</a:t>
            </a:r>
          </a:p>
          <a:p>
            <a:r>
              <a:rPr lang="en-US"/>
              <a:t>  – CATEGORÍAS: id (uuid, PK), nombre (string), tipo (string). Clasifica ingresos y gastos.</a:t>
            </a:r>
          </a:p>
          <a:p>
            <a:r>
              <a:rPr lang="en-US"/>
              <a:t>  – TRANSACCIONES: id (uuid, PK), usuario_id (FK), categoria_id (FK), monto (decimal), tipo (string), fecha (date), descripcion (string). Registra cada movimiento financiero.</a:t>
            </a:r>
          </a:p>
          <a:p>
            <a:r>
              <a:rPr lang="en-US"/>
              <a:t/>
            </a:r>
          </a:p>
          <a:p>
            <a:r>
              <a:rPr lang="en-US"/>
              <a:t>• BD Presupuestos (Servicio Presupuestos):</a:t>
            </a:r>
          </a:p>
          <a:p>
            <a:r>
              <a:rPr lang="en-US"/>
              <a:t>  – PRESUPUESTOS: id (uuid, PK), usuario_id (FK), categoria_id (FK), limite_mensual (decimal), mes (string). Define metas de gasto por categoría.</a:t>
            </a:r>
          </a:p>
          <a:p>
            <a:r>
              <a:rPr lang="en-US"/>
              <a:t/>
            </a:r>
          </a:p>
          <a:p>
            <a:r>
              <a:rPr lang="en-US"/>
              <a:t>• BD Notificaciones (Servicio Notificaciones):</a:t>
            </a:r>
          </a:p>
          <a:p>
            <a:r>
              <a:rPr lang="en-US"/>
              <a:t>  – NOTIFICACIONES: id (uuid, PK), usuario_id (FK), tipo (string), mensaje (string), enviada (boolean), creado_en (timestamp). Gestiona alertas al usuario.</a:t>
            </a:r>
          </a:p>
          <a:p>
            <a:r>
              <a:rPr lang="en-US"/>
              <a:t/>
            </a:r>
          </a:p>
          <a:p>
            <a:r>
              <a:rPr lang="en-US"/>
              <a:t>Cada servicio accede únicamente a su propia base de datos. La comunicación entre servicios se realiza mediante el API Gateway, manteniendo la independencia de cada dominio.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Alcance</a:t>
            </a:r>
          </a:p>
          <a:p>
            <a:r>
              <a:rPr lang="en-US"/>
              <a:t>Plataforma web que conecta estudiantes de Duoc UC con mentores (egresados o estudiantes avanzados) para sesiones de orientación académica y profesional, con emparejamiento inteligente, agenda integrada y sistema de reputación.</a:t>
            </a:r>
          </a:p>
          <a:p>
            <a:r>
              <a:rPr lang="en-US"/>
              <a:t/>
            </a:r>
          </a:p>
          <a:p>
            <a:r>
              <a:rPr lang="en-US"/>
              <a:t>Objetivo General</a:t>
            </a:r>
          </a:p>
          <a:p>
            <a:r>
              <a:rPr lang="en-US"/>
              <a:t>Desarrollar una plataforma de mentoría universitaria que facilite la conexión entre estudiantes y mentores de Duoc UC, mejorando el acompañamiento académico y profesional mediante tecnología de emparejamiento y videollamadas.</a:t>
            </a:r>
          </a:p>
          <a:p>
            <a:r>
              <a:rPr lang="en-US"/>
              <a:t/>
            </a:r>
          </a:p>
          <a:p>
            <a:r>
              <a:rPr lang="en-US"/>
              <a:t>Objetivos Específicos</a:t>
            </a:r>
          </a:p>
          <a:p>
            <a:r>
              <a:rPr lang="en-US"/>
              <a:t>• Implementar un sistema de emparejamiento basado en intereses, carrera y disponibilidad.</a:t>
            </a:r>
          </a:p>
          <a:p>
            <a:r>
              <a:rPr lang="en-US"/>
              <a:t>• Integrar agenda con Google Calendar para coordinar sesiones de mentoría.</a:t>
            </a:r>
          </a:p>
          <a:p>
            <a:r>
              <a:rPr lang="en-US"/>
              <a:t>• Desarrollar un módulo de videollamadas para sesiones en tiempo real.</a:t>
            </a:r>
          </a:p>
          <a:p>
            <a:r>
              <a:rPr lang="en-US"/>
              <a:t>• Crear un sistema de reputación y feedback entre mentores y estudiantes.</a:t>
            </a:r>
          </a:p>
          <a:p>
            <a:r>
              <a:rPr lang="en-US"/>
              <a:t>• Diseñar una arquitectura de microservicios escalable y mantenible.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Arquitectura de Microservicios - ConectaU</a:t>
            </a:r>
          </a:p>
          <a:p>
            <a:r>
              <a:rPr lang="en-US"/>
              <a:t/>
            </a:r>
          </a:p>
          <a:p>
            <a:r>
              <a:rPr lang="en-US"/>
              <a:t>La plataforma se estructura en capas independientes:</a:t>
            </a:r>
          </a:p>
          <a:p>
            <a:r>
              <a:rPr lang="en-US"/>
              <a:t/>
            </a:r>
          </a:p>
          <a:p>
            <a:r>
              <a:rPr lang="en-US"/>
              <a:t>• Capa Cliente: Aplicación web (SPA) que consume los servicios a través de un API Gateway centralizado.</a:t>
            </a:r>
          </a:p>
          <a:p>
            <a:r>
              <a:rPr lang="en-US"/>
              <a:t/>
            </a:r>
          </a:p>
          <a:p>
            <a:r>
              <a:rPr lang="en-US"/>
              <a:t>• API Gateway: Punto de entrada único que gestiona autenticación, enrutamiento y balanceo de carga hacia los microservicios.</a:t>
            </a:r>
          </a:p>
          <a:p>
            <a:r>
              <a:rPr lang="en-US"/>
              <a:t/>
            </a:r>
          </a:p>
          <a:p>
            <a:r>
              <a:rPr lang="en-US"/>
              <a:t>• Microservicios:</a:t>
            </a:r>
          </a:p>
          <a:p>
            <a:r>
              <a:rPr lang="en-US"/>
              <a:t>  - Servicio de Usuarios: Registro, perfiles y autenticación.</a:t>
            </a:r>
          </a:p>
          <a:p>
            <a:r>
              <a:rPr lang="en-US"/>
              <a:t>  - Servicio de Emparejamiento: Algoritmo inteligente de matching mentor-estudiante.</a:t>
            </a:r>
          </a:p>
          <a:p>
            <a:r>
              <a:rPr lang="en-US"/>
              <a:t>  - Servicio de Agenda: Integración con Google Calendar para coordinar sesiones.</a:t>
            </a:r>
          </a:p>
          <a:p>
            <a:r>
              <a:rPr lang="en-US"/>
              <a:t>  - Servicio de Videollamadas: Comunicación en tiempo real.</a:t>
            </a:r>
          </a:p>
          <a:p>
            <a:r>
              <a:rPr lang="en-US"/>
              <a:t>  - Servicio de Reputación: Feedback y calificaciones.</a:t>
            </a:r>
          </a:p>
          <a:p>
            <a:r>
              <a:rPr lang="en-US"/>
              <a:t/>
            </a:r>
          </a:p>
          <a:p>
            <a:r>
              <a:rPr lang="en-US"/>
              <a:t>• Bases de Datos: Cada servicio posee su propia base de datos (patrón Database per Service), garantizando independencia y escalabilidad.</a:t>
            </a:r>
          </a:p>
          <a:p>
            <a:r>
              <a:rPr lang="en-US"/>
              <a:t/>
            </a:r>
          </a:p>
          <a:p>
            <a:r>
              <a:rPr lang="en-US"/>
              <a:t>• Servicios Externos: Google Calendar API y proveedor de videollamadas (WebRTC)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Modelo de Datos por Servicio</a:t>
            </a:r>
          </a:p>
          <a:p>
            <a:r>
              <a:rPr lang="en-US"/>
              <a:t/>
            </a:r>
          </a:p>
          <a:p>
            <a:r>
              <a:rPr lang="en-US"/>
              <a:t>Cada microservicio gestiona su propia base de datos (Database per Service):</a:t>
            </a:r>
          </a:p>
          <a:p>
            <a:r>
              <a:rPr lang="en-US"/>
              <a:t/>
            </a:r>
          </a:p>
          <a:p>
            <a:r>
              <a:rPr lang="en-US"/>
              <a:t>BD Usuarios: Tablas de perfiles, credenciales y roles (mentor/estudiante).</a:t>
            </a:r>
          </a:p>
          <a:p>
            <a:r>
              <a:rPr lang="en-US"/>
              <a:t/>
            </a:r>
          </a:p>
          <a:p>
            <a:r>
              <a:rPr lang="en-US"/>
              <a:t>BD Emparejamiento: Registros de matching, compatibilidad y conexiones mentor-estudiante.</a:t>
            </a:r>
          </a:p>
          <a:p>
            <a:r>
              <a:rPr lang="en-US"/>
              <a:t/>
            </a:r>
          </a:p>
          <a:p>
            <a:r>
              <a:rPr lang="en-US"/>
              <a:t>BD Agenda: Sesiones programadas, horarios disponibles e integracion con calendarios.</a:t>
            </a:r>
          </a:p>
          <a:p>
            <a:r>
              <a:rPr lang="en-US"/>
              <a:t/>
            </a:r>
          </a:p>
          <a:p>
            <a:r>
              <a:rPr lang="en-US"/>
              <a:t>BD Videollamadas: Registros de sesiones en tiempo real y estados de conexion.</a:t>
            </a:r>
          </a:p>
          <a:p>
            <a:r>
              <a:rPr lang="en-US"/>
              <a:t/>
            </a:r>
          </a:p>
          <a:p>
            <a:r>
              <a:rPr lang="en-US"/>
              <a:t>BD Reputacion: Calificaciones, comentarios y metricas de feedback.</a:t>
            </a:r>
          </a:p>
          <a:p>
            <a:r>
              <a:rPr lang="en-US"/>
              <a:t/>
            </a:r>
          </a:p>
          <a:p>
            <a:r>
              <a:rPr lang="en-US"/>
              <a:t>BD Notificaciones: Alertas, recordatorios y preferencias de comunicacion.</a:t>
            </a:r>
          </a:p>
          <a:p>
            <a:r>
              <a:rPr lang="en-US"/>
              <a:t/>
            </a:r>
          </a:p>
          <a:p>
            <a:r>
              <a:rPr lang="en-US"/>
              <a:t>Las relaciones entre tablas (1:N, N:M) se representan mediante lineas de conexion en cada diagrama.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15" Target="../media/image2.png" Type="http://schemas.openxmlformats.org/officeDocument/2006/relationships/image"/><Relationship Id="rId2" Target="../notesSlides/notesSlide9.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sp>
        <p:nvSpPr>
          <p:cNvPr name="Freeform 2" id="2"/>
          <p:cNvSpPr/>
          <p:nvPr/>
        </p:nvSpPr>
        <p:spPr>
          <a:xfrm flipH="false" flipV="false" rot="0">
            <a:off x="609600" y="-352029"/>
            <a:ext cx="10553700" cy="9610329"/>
          </a:xfrm>
          <a:custGeom>
            <a:avLst/>
            <a:gdLst/>
            <a:ahLst/>
            <a:cxnLst/>
            <a:rect r="r" b="b" t="t" l="l"/>
            <a:pathLst>
              <a:path h="9610329" w="10553700">
                <a:moveTo>
                  <a:pt x="0" y="0"/>
                </a:moveTo>
                <a:lnTo>
                  <a:pt x="10553700" y="0"/>
                </a:lnTo>
                <a:lnTo>
                  <a:pt x="10553700" y="9610329"/>
                </a:lnTo>
                <a:lnTo>
                  <a:pt x="0" y="9610329"/>
                </a:lnTo>
                <a:lnTo>
                  <a:pt x="0" y="0"/>
                </a:lnTo>
                <a:close/>
              </a:path>
            </a:pathLst>
          </a:custGeom>
          <a:blipFill>
            <a:blip r:embed="rId2"/>
            <a:stretch>
              <a:fillRect l="0" t="-35" r="0" b="-35"/>
            </a:stretch>
          </a:blipFill>
        </p:spPr>
      </p:sp>
      <p:grpSp>
        <p:nvGrpSpPr>
          <p:cNvPr name="Group 3" id="3"/>
          <p:cNvGrpSpPr/>
          <p:nvPr/>
        </p:nvGrpSpPr>
        <p:grpSpPr>
          <a:xfrm rot="0">
            <a:off x="4648200" y="1514475"/>
            <a:ext cx="14471333" cy="4459106"/>
            <a:chOff x="0" y="0"/>
            <a:chExt cx="3811380" cy="1174415"/>
          </a:xfrm>
        </p:grpSpPr>
        <p:sp>
          <p:nvSpPr>
            <p:cNvPr name="Freeform 4" id="4"/>
            <p:cNvSpPr/>
            <p:nvPr/>
          </p:nvSpPr>
          <p:spPr>
            <a:xfrm flipH="false" flipV="false" rot="0">
              <a:off x="0" y="0"/>
              <a:ext cx="3811380" cy="1174415"/>
            </a:xfrm>
            <a:custGeom>
              <a:avLst/>
              <a:gdLst/>
              <a:ahLst/>
              <a:cxnLst/>
              <a:rect r="r" b="b" t="t" l="l"/>
              <a:pathLst>
                <a:path h="1174415" w="3811380">
                  <a:moveTo>
                    <a:pt x="0" y="0"/>
                  </a:moveTo>
                  <a:lnTo>
                    <a:pt x="3811380" y="0"/>
                  </a:lnTo>
                  <a:lnTo>
                    <a:pt x="3811380" y="1174415"/>
                  </a:lnTo>
                  <a:lnTo>
                    <a:pt x="0" y="1174415"/>
                  </a:lnTo>
                  <a:close/>
                </a:path>
              </a:pathLst>
            </a:custGeom>
            <a:solidFill>
              <a:srgbClr val="0C4C31"/>
            </a:solidFill>
          </p:spPr>
        </p:sp>
        <p:sp>
          <p:nvSpPr>
            <p:cNvPr name="TextBox 5" id="5"/>
            <p:cNvSpPr txBox="true"/>
            <p:nvPr/>
          </p:nvSpPr>
          <p:spPr>
            <a:xfrm>
              <a:off x="0" y="-76200"/>
              <a:ext cx="3811380" cy="1250615"/>
            </a:xfrm>
            <a:prstGeom prst="rect">
              <a:avLst/>
            </a:prstGeom>
          </p:spPr>
          <p:txBody>
            <a:bodyPr anchor="ctr" rtlCol="false" tIns="50800" lIns="50800" bIns="50800" rIns="50800"/>
            <a:lstStyle/>
            <a:p>
              <a:pPr algn="ctr" marL="0" indent="0" lvl="0">
                <a:lnSpc>
                  <a:spcPts val="3422"/>
                </a:lnSpc>
              </a:pPr>
            </a:p>
          </p:txBody>
        </p:sp>
      </p:grpSp>
      <p:grpSp>
        <p:nvGrpSpPr>
          <p:cNvPr name="Group 6" id="6"/>
          <p:cNvGrpSpPr/>
          <p:nvPr/>
        </p:nvGrpSpPr>
        <p:grpSpPr>
          <a:xfrm rot="0">
            <a:off x="-1159242" y="9258300"/>
            <a:ext cx="12322542" cy="1543050"/>
            <a:chOff x="0" y="0"/>
            <a:chExt cx="3245443" cy="406400"/>
          </a:xfrm>
        </p:grpSpPr>
        <p:sp>
          <p:nvSpPr>
            <p:cNvPr name="Freeform 7" id="7"/>
            <p:cNvSpPr/>
            <p:nvPr/>
          </p:nvSpPr>
          <p:spPr>
            <a:xfrm flipH="false" flipV="false" rot="0">
              <a:off x="0" y="0"/>
              <a:ext cx="3245443" cy="406400"/>
            </a:xfrm>
            <a:custGeom>
              <a:avLst/>
              <a:gdLst/>
              <a:ahLst/>
              <a:cxnLst/>
              <a:rect r="r" b="b" t="t" l="l"/>
              <a:pathLst>
                <a:path h="406400" w="3245443">
                  <a:moveTo>
                    <a:pt x="0" y="0"/>
                  </a:moveTo>
                  <a:lnTo>
                    <a:pt x="3245443" y="0"/>
                  </a:lnTo>
                  <a:lnTo>
                    <a:pt x="3245443" y="406400"/>
                  </a:lnTo>
                  <a:lnTo>
                    <a:pt x="0" y="406400"/>
                  </a:lnTo>
                  <a:close/>
                </a:path>
              </a:pathLst>
            </a:custGeom>
            <a:solidFill>
              <a:srgbClr val="F5F5F5"/>
            </a:solidFill>
          </p:spPr>
        </p:sp>
        <p:sp>
          <p:nvSpPr>
            <p:cNvPr name="TextBox 8" id="8"/>
            <p:cNvSpPr txBox="true"/>
            <p:nvPr/>
          </p:nvSpPr>
          <p:spPr>
            <a:xfrm>
              <a:off x="0" y="-76200"/>
              <a:ext cx="3245443" cy="482600"/>
            </a:xfrm>
            <a:prstGeom prst="rect">
              <a:avLst/>
            </a:prstGeom>
          </p:spPr>
          <p:txBody>
            <a:bodyPr anchor="ctr" rtlCol="false" tIns="50800" lIns="50800" bIns="50800" rIns="50800"/>
            <a:lstStyle/>
            <a:p>
              <a:pPr algn="ctr" marL="0" indent="0" lvl="0">
                <a:lnSpc>
                  <a:spcPts val="3422"/>
                </a:lnSpc>
              </a:pPr>
            </a:p>
          </p:txBody>
        </p:sp>
      </p:grpSp>
      <p:sp>
        <p:nvSpPr>
          <p:cNvPr name="Freeform 9" id="9"/>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3"/>
            <a:stretch>
              <a:fillRect l="0" t="0" r="0" b="0"/>
            </a:stretch>
          </a:blipFill>
        </p:spPr>
      </p:sp>
      <p:sp>
        <p:nvSpPr>
          <p:cNvPr name="TextBox 10" id="10"/>
          <p:cNvSpPr txBox="true"/>
          <p:nvPr/>
        </p:nvSpPr>
        <p:spPr>
          <a:xfrm rot="0">
            <a:off x="6297494" y="1973346"/>
            <a:ext cx="11380906" cy="2855332"/>
          </a:xfrm>
          <a:prstGeom prst="rect">
            <a:avLst/>
          </a:prstGeom>
        </p:spPr>
        <p:txBody>
          <a:bodyPr anchor="t" rtlCol="false" tIns="0" lIns="0" bIns="0" rIns="0">
            <a:spAutoFit/>
          </a:bodyPr>
          <a:lstStyle/>
          <a:p>
            <a:pPr algn="r" marL="0" indent="0" lvl="0">
              <a:lnSpc>
                <a:spcPts val="7414"/>
              </a:lnSpc>
            </a:pPr>
            <a:r>
              <a:rPr lang="en-US" b="true" sz="7414">
                <a:solidFill>
                  <a:srgbClr val="F5F5F5"/>
                </a:solidFill>
                <a:latin typeface="DM Sans Bold"/>
                <a:ea typeface="DM Sans Bold"/>
                <a:cs typeface="DM Sans Bold"/>
                <a:sym typeface="DM Sans Bold"/>
              </a:rPr>
              <a:t>Propuesta de </a:t>
            </a:r>
          </a:p>
          <a:p>
            <a:pPr algn="r" marL="0" indent="0" lvl="0">
              <a:lnSpc>
                <a:spcPts val="7414"/>
              </a:lnSpc>
            </a:pPr>
            <a:r>
              <a:rPr lang="en-US" b="true" sz="7414">
                <a:solidFill>
                  <a:srgbClr val="F5F5F5"/>
                </a:solidFill>
                <a:latin typeface="DM Sans Bold"/>
                <a:ea typeface="DM Sans Bold"/>
                <a:cs typeface="DM Sans Bold"/>
                <a:sym typeface="DM Sans Bold"/>
              </a:rPr>
              <a:t>Proyectos de Título</a:t>
            </a:r>
          </a:p>
          <a:p>
            <a:pPr algn="r" marL="0" indent="0" lvl="0">
              <a:lnSpc>
                <a:spcPts val="7414"/>
              </a:lnSpc>
            </a:pPr>
            <a:r>
              <a:rPr lang="en-US" b="true" sz="7414">
                <a:solidFill>
                  <a:srgbClr val="F5F5F5"/>
                </a:solidFill>
                <a:latin typeface="DM Sans Bold"/>
                <a:ea typeface="DM Sans Bold"/>
                <a:cs typeface="DM Sans Bold"/>
                <a:sym typeface="DM Sans Bold"/>
              </a:rPr>
              <a:t>Ing. en Informática 2026</a:t>
            </a:r>
          </a:p>
        </p:txBody>
      </p:sp>
      <p:sp>
        <p:nvSpPr>
          <p:cNvPr name="TextBox 11" id="11"/>
          <p:cNvSpPr txBox="true"/>
          <p:nvPr/>
        </p:nvSpPr>
        <p:spPr>
          <a:xfrm rot="0">
            <a:off x="6858166" y="5017201"/>
            <a:ext cx="10259562" cy="509773"/>
          </a:xfrm>
          <a:prstGeom prst="rect">
            <a:avLst/>
          </a:prstGeom>
        </p:spPr>
        <p:txBody>
          <a:bodyPr anchor="t" rtlCol="false" tIns="0" lIns="0" bIns="0" rIns="0">
            <a:spAutoFit/>
          </a:bodyPr>
          <a:lstStyle/>
          <a:p>
            <a:pPr algn="r" marL="0" indent="0" lvl="0">
              <a:lnSpc>
                <a:spcPts val="3925"/>
              </a:lnSpc>
            </a:pPr>
            <a:r>
              <a:rPr lang="en-US" b="true" sz="2803">
                <a:solidFill>
                  <a:srgbClr val="F5F5F5"/>
                </a:solidFill>
                <a:latin typeface="Poppins Bold"/>
                <a:ea typeface="Poppins Bold"/>
                <a:cs typeface="Poppins Bold"/>
                <a:sym typeface="Poppins Bold"/>
              </a:rPr>
              <a:t>SugoiAnime · MisChauchas (FinanzaTech) · ConectaU</a:t>
            </a:r>
          </a:p>
        </p:txBody>
      </p:sp>
      <p:sp>
        <p:nvSpPr>
          <p:cNvPr name="TextBox 12" id="12"/>
          <p:cNvSpPr txBox="true"/>
          <p:nvPr/>
        </p:nvSpPr>
        <p:spPr>
          <a:xfrm rot="0">
            <a:off x="13164362" y="6202181"/>
            <a:ext cx="4514038" cy="2463700"/>
          </a:xfrm>
          <a:prstGeom prst="rect">
            <a:avLst/>
          </a:prstGeom>
        </p:spPr>
        <p:txBody>
          <a:bodyPr anchor="t" rtlCol="false" tIns="0" lIns="0" bIns="0" rIns="0">
            <a:spAutoFit/>
          </a:bodyPr>
          <a:lstStyle/>
          <a:p>
            <a:pPr algn="l">
              <a:lnSpc>
                <a:spcPts val="2805"/>
              </a:lnSpc>
            </a:pPr>
            <a:r>
              <a:rPr lang="en-US" sz="2003">
                <a:solidFill>
                  <a:srgbClr val="000000"/>
                </a:solidFill>
                <a:latin typeface="Poppins"/>
                <a:ea typeface="Poppins"/>
                <a:cs typeface="Poppins"/>
                <a:sym typeface="Poppins"/>
              </a:rPr>
              <a:t>Equipo:</a:t>
            </a:r>
          </a:p>
          <a:p>
            <a:pPr algn="l" marL="432647" indent="-216324" lvl="1">
              <a:lnSpc>
                <a:spcPts val="2805"/>
              </a:lnSpc>
              <a:buFont typeface="Arial"/>
              <a:buChar char="•"/>
            </a:pPr>
            <a:r>
              <a:rPr lang="en-US" sz="2003">
                <a:solidFill>
                  <a:srgbClr val="000000"/>
                </a:solidFill>
                <a:latin typeface="Poppins"/>
                <a:ea typeface="Poppins"/>
                <a:cs typeface="Poppins"/>
                <a:sym typeface="Poppins"/>
              </a:rPr>
              <a:t>Elizabeth Alegría</a:t>
            </a:r>
          </a:p>
          <a:p>
            <a:pPr algn="l" marL="432647" indent="-216324" lvl="1">
              <a:lnSpc>
                <a:spcPts val="2805"/>
              </a:lnSpc>
              <a:buFont typeface="Arial"/>
              <a:buChar char="•"/>
            </a:pPr>
            <a:r>
              <a:rPr lang="en-US" sz="2003">
                <a:solidFill>
                  <a:srgbClr val="000000"/>
                </a:solidFill>
                <a:latin typeface="Poppins"/>
                <a:ea typeface="Poppins"/>
                <a:cs typeface="Poppins"/>
                <a:sym typeface="Poppins"/>
              </a:rPr>
              <a:t>Natalia Benítez</a:t>
            </a:r>
          </a:p>
          <a:p>
            <a:pPr algn="l" marL="432647" indent="-216324" lvl="1">
              <a:lnSpc>
                <a:spcPts val="2805"/>
              </a:lnSpc>
              <a:buFont typeface="Arial"/>
              <a:buChar char="•"/>
            </a:pPr>
            <a:r>
              <a:rPr lang="en-US" sz="2003">
                <a:solidFill>
                  <a:srgbClr val="000000"/>
                </a:solidFill>
                <a:latin typeface="Poppins"/>
                <a:ea typeface="Poppins"/>
                <a:cs typeface="Poppins"/>
                <a:sym typeface="Poppins"/>
              </a:rPr>
              <a:t>Marco hernandez</a:t>
            </a:r>
          </a:p>
          <a:p>
            <a:pPr algn="l">
              <a:lnSpc>
                <a:spcPts val="2805"/>
              </a:lnSpc>
            </a:pPr>
          </a:p>
          <a:p>
            <a:pPr algn="l">
              <a:lnSpc>
                <a:spcPts val="2805"/>
              </a:lnSpc>
            </a:pPr>
            <a:r>
              <a:rPr lang="en-US" sz="2003">
                <a:solidFill>
                  <a:srgbClr val="000000"/>
                </a:solidFill>
                <a:latin typeface="Poppins"/>
                <a:ea typeface="Poppins"/>
                <a:cs typeface="Poppins"/>
                <a:sym typeface="Poppins"/>
              </a:rPr>
              <a:t>PORTAFOLIO DE TÍTULO - CAPSTONE</a:t>
            </a:r>
          </a:p>
          <a:p>
            <a:pPr algn="just">
              <a:lnSpc>
                <a:spcPts val="2805"/>
              </a:lnSpc>
            </a:pPr>
            <a:r>
              <a:rPr lang="en-US" sz="2003">
                <a:solidFill>
                  <a:srgbClr val="000000"/>
                </a:solidFill>
                <a:latin typeface="Poppins"/>
                <a:ea typeface="Poppins"/>
                <a:cs typeface="Poppins"/>
                <a:sym typeface="Poppins"/>
              </a:rPr>
              <a:t>Prof. Marco Valenzuela</a:t>
            </a:r>
          </a:p>
        </p:txBody>
      </p:sp>
      <p:sp>
        <p:nvSpPr>
          <p:cNvPr name="TextBox 13" id="13"/>
          <p:cNvSpPr txBox="true"/>
          <p:nvPr/>
        </p:nvSpPr>
        <p:spPr>
          <a:xfrm rot="0">
            <a:off x="12962164" y="9104095"/>
            <a:ext cx="4297136" cy="325655"/>
          </a:xfrm>
          <a:prstGeom prst="rect">
            <a:avLst/>
          </a:prstGeom>
        </p:spPr>
        <p:txBody>
          <a:bodyPr anchor="t" rtlCol="false" tIns="0" lIns="0" bIns="0" rIns="0">
            <a:spAutoFit/>
          </a:bodyPr>
          <a:lstStyle/>
          <a:p>
            <a:pPr algn="ctr" marL="0" indent="0" lvl="0">
              <a:lnSpc>
                <a:spcPts val="2525"/>
              </a:lnSpc>
            </a:pPr>
            <a:r>
              <a:rPr lang="en-US" sz="1803">
                <a:solidFill>
                  <a:srgbClr val="000000"/>
                </a:solidFill>
                <a:latin typeface="Poppins"/>
                <a:ea typeface="Poppins"/>
                <a:cs typeface="Poppins"/>
                <a:sym typeface="Poppins"/>
              </a:rPr>
              <a:t>Santiago, Chile — Agosto de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13335000" y="6166413"/>
            <a:ext cx="6594044" cy="4305347"/>
            <a:chOff x="0" y="0"/>
            <a:chExt cx="1736703" cy="1133919"/>
          </a:xfrm>
        </p:grpSpPr>
        <p:sp>
          <p:nvSpPr>
            <p:cNvPr name="Freeform 3" id="3"/>
            <p:cNvSpPr/>
            <p:nvPr/>
          </p:nvSpPr>
          <p:spPr>
            <a:xfrm flipH="false" flipV="false" rot="0">
              <a:off x="0" y="0"/>
              <a:ext cx="1736703" cy="1133919"/>
            </a:xfrm>
            <a:custGeom>
              <a:avLst/>
              <a:gdLst/>
              <a:ahLst/>
              <a:cxnLst/>
              <a:rect r="r" b="b" t="t" l="l"/>
              <a:pathLst>
                <a:path h="1133919" w="1736703">
                  <a:moveTo>
                    <a:pt x="0" y="0"/>
                  </a:moveTo>
                  <a:lnTo>
                    <a:pt x="1736703" y="0"/>
                  </a:lnTo>
                  <a:lnTo>
                    <a:pt x="1736703" y="1133919"/>
                  </a:lnTo>
                  <a:lnTo>
                    <a:pt x="0" y="1133919"/>
                  </a:lnTo>
                  <a:close/>
                </a:path>
              </a:pathLst>
            </a:custGeom>
            <a:solidFill>
              <a:srgbClr val="0C4C31"/>
            </a:solidFill>
          </p:spPr>
        </p:sp>
        <p:sp>
          <p:nvSpPr>
            <p:cNvPr name="TextBox 4" id="4"/>
            <p:cNvSpPr txBox="true"/>
            <p:nvPr/>
          </p:nvSpPr>
          <p:spPr>
            <a:xfrm>
              <a:off x="0" y="-76200"/>
              <a:ext cx="1736703" cy="1210119"/>
            </a:xfrm>
            <a:prstGeom prst="rect">
              <a:avLst/>
            </a:prstGeom>
          </p:spPr>
          <p:txBody>
            <a:bodyPr anchor="ctr" rtlCol="false" tIns="50800" lIns="50800" bIns="50800" rIns="50800"/>
            <a:lstStyle/>
            <a:p>
              <a:pPr algn="ctr" marL="0" indent="0" lvl="0">
                <a:lnSpc>
                  <a:spcPts val="3422"/>
                </a:lnSpc>
              </a:pPr>
            </a:p>
          </p:txBody>
        </p:sp>
      </p:grpSp>
      <p:grpSp>
        <p:nvGrpSpPr>
          <p:cNvPr name="Group 5" id="5"/>
          <p:cNvGrpSpPr/>
          <p:nvPr/>
        </p:nvGrpSpPr>
        <p:grpSpPr>
          <a:xfrm rot="0">
            <a:off x="581025" y="2525251"/>
            <a:ext cx="8382000" cy="6571814"/>
            <a:chOff x="0" y="0"/>
            <a:chExt cx="2207605" cy="1730848"/>
          </a:xfrm>
        </p:grpSpPr>
        <p:sp>
          <p:nvSpPr>
            <p:cNvPr name="Freeform 6" id="6"/>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7" id="7"/>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grpSp>
        <p:nvGrpSpPr>
          <p:cNvPr name="Group 8" id="8"/>
          <p:cNvGrpSpPr/>
          <p:nvPr/>
        </p:nvGrpSpPr>
        <p:grpSpPr>
          <a:xfrm rot="0">
            <a:off x="514350" y="874395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0" id="10"/>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1" id="11"/>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02</a:t>
            </a:r>
          </a:p>
        </p:txBody>
      </p:sp>
      <p:sp>
        <p:nvSpPr>
          <p:cNvPr name="TextBox 12" id="12"/>
          <p:cNvSpPr txBox="true"/>
          <p:nvPr/>
        </p:nvSpPr>
        <p:spPr>
          <a:xfrm rot="0">
            <a:off x="877183" y="3219472"/>
            <a:ext cx="7733061" cy="4869180"/>
          </a:xfrm>
          <a:prstGeom prst="rect">
            <a:avLst/>
          </a:prstGeom>
        </p:spPr>
        <p:txBody>
          <a:bodyPr anchor="t" rtlCol="false" tIns="0" lIns="0" bIns="0" rIns="0">
            <a:spAutoFit/>
          </a:bodyPr>
          <a:lstStyle/>
          <a:p>
            <a:pPr algn="just">
              <a:lnSpc>
                <a:spcPts val="2550"/>
              </a:lnSpc>
            </a:pPr>
            <a:r>
              <a:rPr lang="en-US" b="true" sz="1700">
                <a:solidFill>
                  <a:srgbClr val="333333"/>
                </a:solidFill>
                <a:latin typeface="Poppins Bold"/>
                <a:ea typeface="Poppins Bold"/>
                <a:cs typeface="Poppins Bold"/>
                <a:sym typeface="Poppins Bold"/>
              </a:rPr>
              <a:t>Alcance</a:t>
            </a:r>
          </a:p>
          <a:p>
            <a:pPr algn="just">
              <a:lnSpc>
                <a:spcPts val="2550"/>
              </a:lnSpc>
            </a:pPr>
            <a:r>
              <a:rPr lang="en-US" sz="1700">
                <a:solidFill>
                  <a:srgbClr val="333333"/>
                </a:solidFill>
                <a:latin typeface="Poppins"/>
                <a:ea typeface="Poppins"/>
                <a:cs typeface="Poppins"/>
                <a:sym typeface="Poppins"/>
              </a:rPr>
              <a:t>Plataforma web de streaming de anime con catálogo, sistema de usuarios, recomendaciones basadas en ML y módulo de monetización (suscripciones y pagos).</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Objetivo General</a:t>
            </a:r>
          </a:p>
          <a:p>
            <a:pPr algn="just">
              <a:lnSpc>
                <a:spcPts val="2550"/>
              </a:lnSpc>
            </a:pPr>
            <a:r>
              <a:rPr lang="en-US" sz="1700">
                <a:solidFill>
                  <a:srgbClr val="333333"/>
                </a:solidFill>
                <a:latin typeface="Poppins"/>
                <a:ea typeface="Poppins"/>
                <a:cs typeface="Poppins"/>
                <a:sym typeface="Poppins"/>
              </a:rPr>
              <a:t>Desarrollar una plataforma de streaming de anime funcional, robusta, escalable y segura que ofrezca una experiencia de usuario de calidad.</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Objetivos Específicos</a:t>
            </a:r>
          </a:p>
          <a:p>
            <a:pPr algn="just">
              <a:lnSpc>
                <a:spcPts val="2550"/>
              </a:lnSpc>
            </a:pPr>
            <a:r>
              <a:rPr lang="en-US" sz="1700">
                <a:solidFill>
                  <a:srgbClr val="333333"/>
                </a:solidFill>
                <a:latin typeface="Poppins"/>
                <a:ea typeface="Poppins"/>
                <a:cs typeface="Poppins"/>
                <a:sym typeface="Poppins"/>
              </a:rPr>
              <a:t>• Implementar un catálogo multimedia con integración a AniList API.</a:t>
            </a:r>
          </a:p>
          <a:p>
            <a:pPr algn="just">
              <a:lnSpc>
                <a:spcPts val="2550"/>
              </a:lnSpc>
            </a:pPr>
            <a:r>
              <a:rPr lang="en-US" sz="1700">
                <a:solidFill>
                  <a:srgbClr val="333333"/>
                </a:solidFill>
                <a:latin typeface="Poppins"/>
                <a:ea typeface="Poppins"/>
                <a:cs typeface="Poppins"/>
                <a:sym typeface="Poppins"/>
              </a:rPr>
              <a:t>• Diseñar un sistema de autenticación y gestión de usuarios.</a:t>
            </a:r>
          </a:p>
          <a:p>
            <a:pPr algn="just">
              <a:lnSpc>
                <a:spcPts val="2550"/>
              </a:lnSpc>
            </a:pPr>
            <a:r>
              <a:rPr lang="en-US" sz="1700">
                <a:solidFill>
                  <a:srgbClr val="333333"/>
                </a:solidFill>
                <a:latin typeface="Poppins"/>
                <a:ea typeface="Poppins"/>
                <a:cs typeface="Poppins"/>
                <a:sym typeface="Poppins"/>
              </a:rPr>
              <a:t>• Desarrollar un motor de recomendaciones con Machine Learning.</a:t>
            </a:r>
          </a:p>
          <a:p>
            <a:pPr algn="just">
              <a:lnSpc>
                <a:spcPts val="2550"/>
              </a:lnSpc>
            </a:pPr>
            <a:r>
              <a:rPr lang="en-US" sz="1700">
                <a:solidFill>
                  <a:srgbClr val="333333"/>
                </a:solidFill>
                <a:latin typeface="Poppins"/>
                <a:ea typeface="Poppins"/>
                <a:cs typeface="Poppins"/>
                <a:sym typeface="Poppins"/>
              </a:rPr>
              <a:t>• Integrar una pasarela de pago para suscripciones.</a:t>
            </a:r>
          </a:p>
          <a:p>
            <a:pPr algn="just">
              <a:lnSpc>
                <a:spcPts val="2550"/>
              </a:lnSpc>
            </a:pPr>
            <a:r>
              <a:rPr lang="en-US" sz="1700">
                <a:solidFill>
                  <a:srgbClr val="333333"/>
                </a:solidFill>
                <a:latin typeface="Poppins"/>
                <a:ea typeface="Poppins"/>
                <a:cs typeface="Poppins"/>
                <a:sym typeface="Poppins"/>
              </a:rPr>
              <a:t>• Desplegar la arquitectura en microservicios con alta disponibilidad.</a:t>
            </a:r>
          </a:p>
        </p:txBody>
      </p:sp>
      <p:grpSp>
        <p:nvGrpSpPr>
          <p:cNvPr name="Group 13" id="13"/>
          <p:cNvGrpSpPr/>
          <p:nvPr/>
        </p:nvGrpSpPr>
        <p:grpSpPr>
          <a:xfrm rot="0">
            <a:off x="620008" y="790575"/>
            <a:ext cx="7524750" cy="1496551"/>
            <a:chOff x="0" y="0"/>
            <a:chExt cx="10033000" cy="1995402"/>
          </a:xfrm>
        </p:grpSpPr>
        <p:sp>
          <p:nvSpPr>
            <p:cNvPr name="TextBox 14" id="14"/>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0C4C31"/>
                  </a:solidFill>
                  <a:latin typeface="DM Sans Bold"/>
                  <a:ea typeface="DM Sans Bold"/>
                  <a:cs typeface="DM Sans Bold"/>
                  <a:sym typeface="DM Sans Bold"/>
                </a:rPr>
                <a:t>SugoiAnime</a:t>
              </a:r>
            </a:p>
          </p:txBody>
        </p:sp>
        <p:sp>
          <p:nvSpPr>
            <p:cNvPr name="TextBox 15" id="15"/>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0C4C31"/>
                  </a:solidFill>
                  <a:latin typeface="DM Sans Bold"/>
                  <a:ea typeface="DM Sans Bold"/>
                  <a:cs typeface="DM Sans Bold"/>
                  <a:sym typeface="DM Sans Bold"/>
                </a:rPr>
                <a:t>Plataforma de streaming</a:t>
              </a:r>
            </a:p>
          </p:txBody>
        </p:sp>
      </p:grpSp>
      <p:grpSp>
        <p:nvGrpSpPr>
          <p:cNvPr name="Group 16" id="16"/>
          <p:cNvGrpSpPr/>
          <p:nvPr/>
        </p:nvGrpSpPr>
        <p:grpSpPr>
          <a:xfrm rot="0">
            <a:off x="9312385" y="2525251"/>
            <a:ext cx="8382000" cy="6571814"/>
            <a:chOff x="0" y="0"/>
            <a:chExt cx="2207605" cy="1730848"/>
          </a:xfrm>
        </p:grpSpPr>
        <p:sp>
          <p:nvSpPr>
            <p:cNvPr name="Freeform 17" id="17"/>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18" id="18"/>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sp>
        <p:nvSpPr>
          <p:cNvPr name="TextBox 19" id="19"/>
          <p:cNvSpPr txBox="true"/>
          <p:nvPr/>
        </p:nvSpPr>
        <p:spPr>
          <a:xfrm rot="0">
            <a:off x="9636855" y="2755828"/>
            <a:ext cx="7733061" cy="5840730"/>
          </a:xfrm>
          <a:prstGeom prst="rect">
            <a:avLst/>
          </a:prstGeom>
        </p:spPr>
        <p:txBody>
          <a:bodyPr anchor="t" rtlCol="false" tIns="0" lIns="0" bIns="0" rIns="0">
            <a:spAutoFit/>
          </a:bodyPr>
          <a:lstStyle/>
          <a:p>
            <a:pPr algn="just">
              <a:lnSpc>
                <a:spcPts val="2550"/>
              </a:lnSpc>
            </a:pPr>
            <a:r>
              <a:rPr lang="en-US" b="true" sz="1700">
                <a:solidFill>
                  <a:srgbClr val="333333"/>
                </a:solidFill>
                <a:latin typeface="Poppins Bold"/>
                <a:ea typeface="Poppins Bold"/>
                <a:cs typeface="Poppins Bold"/>
                <a:sym typeface="Poppins Bold"/>
              </a:rPr>
              <a:t>Arquitectura</a:t>
            </a:r>
          </a:p>
          <a:p>
            <a:pPr algn="just">
              <a:lnSpc>
                <a:spcPts val="2550"/>
              </a:lnSpc>
            </a:pPr>
            <a:r>
              <a:rPr lang="en-US" sz="1700">
                <a:solidFill>
                  <a:srgbClr val="333333"/>
                </a:solidFill>
                <a:latin typeface="Poppins"/>
                <a:ea typeface="Poppins"/>
                <a:cs typeface="Poppins"/>
                <a:sym typeface="Poppins"/>
              </a:rPr>
              <a:t>Su arquitectura esta diseñada como un patron de microservicios: </a:t>
            </a:r>
            <a:r>
              <a:rPr lang="en-US" b="true" sz="1700">
                <a:solidFill>
                  <a:srgbClr val="333333"/>
                </a:solidFill>
                <a:latin typeface="Poppins Bold"/>
                <a:ea typeface="Poppins Bold"/>
                <a:cs typeface="Poppins Bold"/>
                <a:sym typeface="Poppins Bold"/>
              </a:rPr>
              <a:t>autentificacion, Catalogo e Integración.</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Base de datos</a:t>
            </a:r>
          </a:p>
          <a:p>
            <a:pPr algn="just">
              <a:lnSpc>
                <a:spcPts val="2550"/>
              </a:lnSpc>
            </a:pPr>
            <a:r>
              <a:rPr lang="en-US" sz="1700">
                <a:solidFill>
                  <a:srgbClr val="333333"/>
                </a:solidFill>
                <a:latin typeface="Poppins"/>
                <a:ea typeface="Poppins"/>
                <a:cs typeface="Poppins"/>
                <a:sym typeface="Poppins"/>
              </a:rPr>
              <a:t>Para este proyecto se tiene previsto 3 bases de datos relacionales independientes entre si para cada micro servicio.</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Metodología </a:t>
            </a:r>
          </a:p>
          <a:p>
            <a:pPr algn="just">
              <a:lnSpc>
                <a:spcPts val="2550"/>
              </a:lnSpc>
            </a:pPr>
            <a:r>
              <a:rPr lang="en-US" sz="1700">
                <a:solidFill>
                  <a:srgbClr val="333333"/>
                </a:solidFill>
                <a:latin typeface="Poppins"/>
                <a:ea typeface="Poppins"/>
                <a:cs typeface="Poppins"/>
                <a:sym typeface="Poppins"/>
              </a:rPr>
              <a:t>Este proyecto será realizado bajo metodología ágil con una duración de 4 meses aprox. Esta metodología nos permite adaptabilidad, entregas incrementales, retroalimentación continua y es lo mas apta para equipos pequeños.</a:t>
            </a:r>
          </a:p>
          <a:p>
            <a:pPr algn="just">
              <a:lnSpc>
                <a:spcPts val="2550"/>
              </a:lnSpc>
            </a:pPr>
          </a:p>
          <a:p>
            <a:pPr algn="just">
              <a:lnSpc>
                <a:spcPts val="2550"/>
              </a:lnSpc>
            </a:pPr>
            <a:r>
              <a:rPr lang="en-US" sz="1700">
                <a:solidFill>
                  <a:srgbClr val="333333"/>
                </a:solidFill>
                <a:latin typeface="Poppins"/>
                <a:ea typeface="Poppins"/>
                <a:cs typeface="Poppins"/>
                <a:sym typeface="Poppins"/>
              </a:rPr>
              <a:t>Por que no una metodolog</a:t>
            </a:r>
            <a:r>
              <a:rPr lang="en-US" sz="1700">
                <a:solidFill>
                  <a:srgbClr val="333333"/>
                </a:solidFill>
                <a:latin typeface="Poppins"/>
                <a:ea typeface="Poppins"/>
                <a:cs typeface="Poppins"/>
                <a:sym typeface="Poppins"/>
              </a:rPr>
              <a:t>í</a:t>
            </a:r>
            <a:r>
              <a:rPr lang="en-US" sz="1700">
                <a:solidFill>
                  <a:srgbClr val="333333"/>
                </a:solidFill>
                <a:latin typeface="Poppins"/>
                <a:ea typeface="Poppins"/>
                <a:cs typeface="Poppins"/>
                <a:sym typeface="Poppins"/>
              </a:rPr>
              <a:t>a tradicional? - Este tipo de metodolog</a:t>
            </a:r>
            <a:r>
              <a:rPr lang="en-US" sz="1700">
                <a:solidFill>
                  <a:srgbClr val="333333"/>
                </a:solidFill>
                <a:latin typeface="Poppins"/>
                <a:ea typeface="Poppins"/>
                <a:cs typeface="Poppins"/>
                <a:sym typeface="Poppins"/>
              </a:rPr>
              <a:t>í</a:t>
            </a:r>
            <a:r>
              <a:rPr lang="en-US" sz="1700">
                <a:solidFill>
                  <a:srgbClr val="333333"/>
                </a:solidFill>
                <a:latin typeface="Poppins"/>
                <a:ea typeface="Poppins"/>
                <a:cs typeface="Poppins"/>
                <a:sym typeface="Poppins"/>
              </a:rPr>
              <a:t>a requiere demasiada estructura desde el inicio, por lo que no es viable para un producto que depende de las tendencias de contenido como lo es SugoiAnime.</a:t>
            </a:r>
          </a:p>
        </p:txBody>
      </p:sp>
      <p:sp>
        <p:nvSpPr>
          <p:cNvPr name="Freeform 20" id="20"/>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3"/>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grpSp>
        <p:nvGrpSpPr>
          <p:cNvPr name="Group 5" id="5"/>
          <p:cNvGrpSpPr/>
          <p:nvPr/>
        </p:nvGrpSpPr>
        <p:grpSpPr>
          <a:xfrm rot="0">
            <a:off x="514350" y="2654555"/>
            <a:ext cx="5272758" cy="6539963"/>
            <a:chOff x="0" y="0"/>
            <a:chExt cx="1388710" cy="1722459"/>
          </a:xfrm>
        </p:grpSpPr>
        <p:sp>
          <p:nvSpPr>
            <p:cNvPr name="Freeform 6" id="6"/>
            <p:cNvSpPr/>
            <p:nvPr/>
          </p:nvSpPr>
          <p:spPr>
            <a:xfrm flipH="false" flipV="false" rot="0">
              <a:off x="0" y="0"/>
              <a:ext cx="1388710" cy="1722459"/>
            </a:xfrm>
            <a:custGeom>
              <a:avLst/>
              <a:gdLst/>
              <a:ahLst/>
              <a:cxnLst/>
              <a:rect r="r" b="b" t="t" l="l"/>
              <a:pathLst>
                <a:path h="1722459" w="1388710">
                  <a:moveTo>
                    <a:pt x="0" y="0"/>
                  </a:moveTo>
                  <a:lnTo>
                    <a:pt x="1388710" y="0"/>
                  </a:lnTo>
                  <a:lnTo>
                    <a:pt x="1388710" y="1722459"/>
                  </a:lnTo>
                  <a:lnTo>
                    <a:pt x="0" y="1722459"/>
                  </a:lnTo>
                  <a:close/>
                </a:path>
              </a:pathLst>
            </a:custGeom>
            <a:solidFill>
              <a:srgbClr val="F5F5F5"/>
            </a:solidFill>
          </p:spPr>
        </p:sp>
        <p:sp>
          <p:nvSpPr>
            <p:cNvPr name="TextBox 7" id="7"/>
            <p:cNvSpPr txBox="true"/>
            <p:nvPr/>
          </p:nvSpPr>
          <p:spPr>
            <a:xfrm>
              <a:off x="0" y="-76200"/>
              <a:ext cx="1388710" cy="1798659"/>
            </a:xfrm>
            <a:prstGeom prst="rect">
              <a:avLst/>
            </a:prstGeom>
          </p:spPr>
          <p:txBody>
            <a:bodyPr anchor="ctr" rtlCol="false" tIns="50800" lIns="50800" bIns="50800" rIns="50800"/>
            <a:lstStyle/>
            <a:p>
              <a:pPr algn="ctr" marL="0" indent="0" lvl="0">
                <a:lnSpc>
                  <a:spcPts val="3422"/>
                </a:lnSpc>
              </a:pPr>
            </a:p>
          </p:txBody>
        </p:sp>
      </p:grpSp>
      <p:sp>
        <p:nvSpPr>
          <p:cNvPr name="Freeform 8" id="8"/>
          <p:cNvSpPr/>
          <p:nvPr/>
        </p:nvSpPr>
        <p:spPr>
          <a:xfrm flipH="false" flipV="false" rot="0">
            <a:off x="6269687" y="1983382"/>
            <a:ext cx="11490604" cy="7211136"/>
          </a:xfrm>
          <a:custGeom>
            <a:avLst/>
            <a:gdLst/>
            <a:ahLst/>
            <a:cxnLst/>
            <a:rect r="r" b="b" t="t" l="l"/>
            <a:pathLst>
              <a:path h="7211136" w="11490604">
                <a:moveTo>
                  <a:pt x="0" y="0"/>
                </a:moveTo>
                <a:lnTo>
                  <a:pt x="11490604" y="0"/>
                </a:lnTo>
                <a:lnTo>
                  <a:pt x="11490604" y="7211136"/>
                </a:lnTo>
                <a:lnTo>
                  <a:pt x="0" y="7211136"/>
                </a:lnTo>
                <a:lnTo>
                  <a:pt x="0" y="0"/>
                </a:lnTo>
                <a:close/>
              </a:path>
            </a:pathLst>
          </a:custGeom>
          <a:blipFill>
            <a:blip r:embed="rId3"/>
            <a:stretch>
              <a:fillRect l="0" t="0" r="0" b="-8449"/>
            </a:stretch>
          </a:blipFill>
        </p:spPr>
      </p:sp>
      <p:grpSp>
        <p:nvGrpSpPr>
          <p:cNvPr name="Group 9" id="9"/>
          <p:cNvGrpSpPr/>
          <p:nvPr/>
        </p:nvGrpSpPr>
        <p:grpSpPr>
          <a:xfrm rot="0">
            <a:off x="514350" y="874395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1" id="11"/>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Freeform 12" id="12"/>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4"/>
            <a:stretch>
              <a:fillRect l="0" t="0" r="0" b="0"/>
            </a:stretch>
          </a:blipFill>
        </p:spPr>
      </p:sp>
      <p:sp>
        <p:nvSpPr>
          <p:cNvPr name="TextBox 13" id="13"/>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03</a:t>
            </a:r>
          </a:p>
        </p:txBody>
      </p:sp>
      <p:grpSp>
        <p:nvGrpSpPr>
          <p:cNvPr name="Group 14" id="14"/>
          <p:cNvGrpSpPr/>
          <p:nvPr/>
        </p:nvGrpSpPr>
        <p:grpSpPr>
          <a:xfrm rot="0">
            <a:off x="620008" y="790575"/>
            <a:ext cx="7524750" cy="1496551"/>
            <a:chOff x="0" y="0"/>
            <a:chExt cx="10033000" cy="1995402"/>
          </a:xfrm>
        </p:grpSpPr>
        <p:sp>
          <p:nvSpPr>
            <p:cNvPr name="TextBox 15" id="15"/>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SugoiAnime</a:t>
              </a:r>
            </a:p>
          </p:txBody>
        </p:sp>
        <p:sp>
          <p:nvSpPr>
            <p:cNvPr name="TextBox 16" id="16"/>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Arquitectura y r. técnicos</a:t>
              </a:r>
            </a:p>
          </p:txBody>
        </p:sp>
      </p:grpSp>
      <p:sp>
        <p:nvSpPr>
          <p:cNvPr name="TextBox 17" id="17"/>
          <p:cNvSpPr txBox="true"/>
          <p:nvPr/>
        </p:nvSpPr>
        <p:spPr>
          <a:xfrm rot="0">
            <a:off x="620008" y="3338300"/>
            <a:ext cx="5003307" cy="4545330"/>
          </a:xfrm>
          <a:prstGeom prst="rect">
            <a:avLst/>
          </a:prstGeom>
        </p:spPr>
        <p:txBody>
          <a:bodyPr anchor="t" rtlCol="false" tIns="0" lIns="0" bIns="0" rIns="0">
            <a:spAutoFit/>
          </a:bodyPr>
          <a:lstStyle/>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Capa de acceso</a:t>
            </a:r>
            <a:r>
              <a:rPr lang="en-US" sz="1700">
                <a:solidFill>
                  <a:srgbClr val="333333"/>
                </a:solidFill>
                <a:latin typeface="Poppins"/>
                <a:ea typeface="Poppins"/>
                <a:cs typeface="Poppins"/>
                <a:sym typeface="Poppins"/>
              </a:rPr>
              <a:t>: Nginx como proxy inverso con TLS, API Gateway para enrutamiento y un CDN para contenido estático.</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Microservicios principales</a:t>
            </a:r>
            <a:r>
              <a:rPr lang="en-US" sz="1700">
                <a:solidFill>
                  <a:srgbClr val="333333"/>
                </a:solidFill>
                <a:latin typeface="Poppins"/>
                <a:ea typeface="Poppins"/>
                <a:cs typeface="Poppins"/>
                <a:sym typeface="Poppins"/>
              </a:rPr>
              <a:t>: Autenticación, Catálogo e Integración, cada uno con su base de datos PostgreSQL independiente.</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Almacenamiento multimedia</a:t>
            </a:r>
            <a:r>
              <a:rPr lang="en-US" sz="1700">
                <a:solidFill>
                  <a:srgbClr val="333333"/>
                </a:solidFill>
                <a:latin typeface="Poppins"/>
                <a:ea typeface="Poppins"/>
                <a:cs typeface="Poppins"/>
                <a:sym typeface="Poppins"/>
              </a:rPr>
              <a:t>: Amazon S3 gestiona videos, imágenes y metadatos, con streaming de video dedicado.</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Integraciones externas</a:t>
            </a:r>
            <a:r>
              <a:rPr lang="en-US" sz="1700">
                <a:solidFill>
                  <a:srgbClr val="333333"/>
                </a:solidFill>
                <a:latin typeface="Poppins"/>
                <a:ea typeface="Poppins"/>
                <a:cs typeface="Poppins"/>
                <a:sym typeface="Poppins"/>
              </a:rPr>
              <a:t>: AniList API para metadatos de anime, pasarela de pago, motor de recomendaciones y analítica.</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Modelo de acceso mixto</a:t>
            </a:r>
            <a:r>
              <a:rPr lang="en-US" sz="1700">
                <a:solidFill>
                  <a:srgbClr val="333333"/>
                </a:solidFill>
                <a:latin typeface="Poppins"/>
                <a:ea typeface="Poppins"/>
                <a:cs typeface="Poppins"/>
                <a:sym typeface="Poppins"/>
              </a:rPr>
              <a:t>: contenido gratuito y premium diferenciado por suscripción.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sp>
        <p:nvSpPr>
          <p:cNvPr name="Freeform 5" id="5"/>
          <p:cNvSpPr/>
          <p:nvPr/>
        </p:nvSpPr>
        <p:spPr>
          <a:xfrm flipH="false" flipV="false" rot="0">
            <a:off x="6104155" y="1818539"/>
            <a:ext cx="11816470" cy="6147675"/>
          </a:xfrm>
          <a:custGeom>
            <a:avLst/>
            <a:gdLst/>
            <a:ahLst/>
            <a:cxnLst/>
            <a:rect r="r" b="b" t="t" l="l"/>
            <a:pathLst>
              <a:path h="6147675" w="11816470">
                <a:moveTo>
                  <a:pt x="0" y="0"/>
                </a:moveTo>
                <a:lnTo>
                  <a:pt x="11816470" y="0"/>
                </a:lnTo>
                <a:lnTo>
                  <a:pt x="11816470" y="6147674"/>
                </a:lnTo>
                <a:lnTo>
                  <a:pt x="0" y="6147674"/>
                </a:lnTo>
                <a:lnTo>
                  <a:pt x="0" y="0"/>
                </a:lnTo>
                <a:close/>
              </a:path>
            </a:pathLst>
          </a:custGeom>
          <a:blipFill>
            <a:blip r:embed="rId3"/>
            <a:stretch>
              <a:fillRect l="0" t="0" r="0" b="-10881"/>
            </a:stretch>
          </a:blipFill>
        </p:spPr>
      </p:sp>
      <p:grpSp>
        <p:nvGrpSpPr>
          <p:cNvPr name="Group 6" id="6"/>
          <p:cNvGrpSpPr/>
          <p:nvPr/>
        </p:nvGrpSpPr>
        <p:grpSpPr>
          <a:xfrm rot="0">
            <a:off x="514350" y="2654555"/>
            <a:ext cx="5272758" cy="6539963"/>
            <a:chOff x="0" y="0"/>
            <a:chExt cx="1388710" cy="1722459"/>
          </a:xfrm>
        </p:grpSpPr>
        <p:sp>
          <p:nvSpPr>
            <p:cNvPr name="Freeform 7" id="7"/>
            <p:cNvSpPr/>
            <p:nvPr/>
          </p:nvSpPr>
          <p:spPr>
            <a:xfrm flipH="false" flipV="false" rot="0">
              <a:off x="0" y="0"/>
              <a:ext cx="1388710" cy="1722459"/>
            </a:xfrm>
            <a:custGeom>
              <a:avLst/>
              <a:gdLst/>
              <a:ahLst/>
              <a:cxnLst/>
              <a:rect r="r" b="b" t="t" l="l"/>
              <a:pathLst>
                <a:path h="1722459" w="1388710">
                  <a:moveTo>
                    <a:pt x="0" y="0"/>
                  </a:moveTo>
                  <a:lnTo>
                    <a:pt x="1388710" y="0"/>
                  </a:lnTo>
                  <a:lnTo>
                    <a:pt x="1388710" y="1722459"/>
                  </a:lnTo>
                  <a:lnTo>
                    <a:pt x="0" y="1722459"/>
                  </a:lnTo>
                  <a:close/>
                </a:path>
              </a:pathLst>
            </a:custGeom>
            <a:solidFill>
              <a:srgbClr val="F5F5F5"/>
            </a:solidFill>
          </p:spPr>
        </p:sp>
        <p:sp>
          <p:nvSpPr>
            <p:cNvPr name="TextBox 8" id="8"/>
            <p:cNvSpPr txBox="true"/>
            <p:nvPr/>
          </p:nvSpPr>
          <p:spPr>
            <a:xfrm>
              <a:off x="0" y="-76200"/>
              <a:ext cx="1388710" cy="1798659"/>
            </a:xfrm>
            <a:prstGeom prst="rect">
              <a:avLst/>
            </a:prstGeom>
          </p:spPr>
          <p:txBody>
            <a:bodyPr anchor="ctr" rtlCol="false" tIns="50800" lIns="50800" bIns="50800" rIns="50800"/>
            <a:lstStyle/>
            <a:p>
              <a:pPr algn="ctr" marL="0" indent="0" lvl="0">
                <a:lnSpc>
                  <a:spcPts val="3422"/>
                </a:lnSpc>
              </a:pPr>
            </a:p>
          </p:txBody>
        </p:sp>
      </p:grpSp>
      <p:grpSp>
        <p:nvGrpSpPr>
          <p:cNvPr name="Group 9" id="9"/>
          <p:cNvGrpSpPr/>
          <p:nvPr/>
        </p:nvGrpSpPr>
        <p:grpSpPr>
          <a:xfrm rot="0">
            <a:off x="514350" y="8743950"/>
            <a:ext cx="1028700" cy="10287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1" id="11"/>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2" id="12"/>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04</a:t>
            </a:r>
          </a:p>
        </p:txBody>
      </p:sp>
      <p:sp>
        <p:nvSpPr>
          <p:cNvPr name="TextBox 13" id="13"/>
          <p:cNvSpPr txBox="true"/>
          <p:nvPr/>
        </p:nvSpPr>
        <p:spPr>
          <a:xfrm rot="0">
            <a:off x="730178" y="2804146"/>
            <a:ext cx="4841103" cy="6164580"/>
          </a:xfrm>
          <a:prstGeom prst="rect">
            <a:avLst/>
          </a:prstGeom>
        </p:spPr>
        <p:txBody>
          <a:bodyPr anchor="t" rtlCol="false" tIns="0" lIns="0" bIns="0" rIns="0">
            <a:spAutoFit/>
          </a:bodyPr>
          <a:lstStyle/>
          <a:p>
            <a:pPr algn="just">
              <a:lnSpc>
                <a:spcPts val="2550"/>
              </a:lnSpc>
            </a:pPr>
            <a:r>
              <a:rPr lang="en-US" sz="1700">
                <a:solidFill>
                  <a:srgbClr val="333333"/>
                </a:solidFill>
                <a:latin typeface="Poppins"/>
                <a:ea typeface="Poppins"/>
                <a:cs typeface="Poppins"/>
                <a:sym typeface="Poppins"/>
              </a:rPr>
              <a:t>•</a:t>
            </a:r>
            <a:r>
              <a:rPr lang="en-US" sz="1700" b="true">
                <a:solidFill>
                  <a:srgbClr val="333333"/>
                </a:solidFill>
                <a:latin typeface="Poppins Bold"/>
                <a:ea typeface="Poppins Bold"/>
                <a:cs typeface="Poppins Bold"/>
                <a:sym typeface="Poppins Bold"/>
              </a:rPr>
              <a:t>BD de Autenticación, Usuario y Suscripción</a:t>
            </a:r>
            <a:r>
              <a:rPr lang="en-US" sz="1700">
                <a:solidFill>
                  <a:srgbClr val="333333"/>
                </a:solidFill>
                <a:latin typeface="Poppins"/>
                <a:ea typeface="Poppins"/>
                <a:cs typeface="Poppins"/>
                <a:sym typeface="Poppins"/>
              </a:rPr>
              <a:t>: gestiona las tablas CUENTA_USUARIO (credenciales, roles), SUSCRIPCIÓN (planes, fechas, estado) y SESIÓN (tokens activos).</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BD de Catálogo y Contenido Multimedia</a:t>
            </a:r>
            <a:r>
              <a:rPr lang="en-US" sz="1700">
                <a:solidFill>
                  <a:srgbClr val="333333"/>
                </a:solidFill>
                <a:latin typeface="Poppins"/>
                <a:ea typeface="Poppins"/>
                <a:cs typeface="Poppins"/>
                <a:sym typeface="Poppins"/>
              </a:rPr>
              <a:t>: almacena CONTENIDO (títulos, sinopsis, tipo), CATEGORÍA (géneros y etiquetas), EPISODIO (archivos de video, duración, orden) y CONTENIDO_CATEGORÍA como tabla intermedia many-to-many.</a:t>
            </a:r>
          </a:p>
          <a:p>
            <a:pPr algn="just">
              <a:lnSpc>
                <a:spcPts val="2550"/>
              </a:lnSpc>
            </a:pPr>
            <a:r>
              <a:rPr lang="en-US" sz="1700">
                <a:solidFill>
                  <a:srgbClr val="333333"/>
                </a:solidFill>
                <a:latin typeface="Poppins"/>
                <a:ea typeface="Poppins"/>
                <a:cs typeface="Poppins"/>
                <a:sym typeface="Poppins"/>
              </a:rPr>
              <a:t>• </a:t>
            </a:r>
            <a:r>
              <a:rPr lang="en-US" sz="1700" b="true">
                <a:solidFill>
                  <a:srgbClr val="333333"/>
                </a:solidFill>
                <a:latin typeface="Poppins Bold"/>
                <a:ea typeface="Poppins Bold"/>
                <a:cs typeface="Poppins Bold"/>
                <a:sym typeface="Poppins Bold"/>
              </a:rPr>
              <a:t>BD de Recomendaciones y Pago</a:t>
            </a:r>
            <a:r>
              <a:rPr lang="en-US" sz="1700">
                <a:solidFill>
                  <a:srgbClr val="333333"/>
                </a:solidFill>
                <a:latin typeface="Poppins"/>
                <a:ea typeface="Poppins"/>
                <a:cs typeface="Poppins"/>
                <a:sym typeface="Poppins"/>
              </a:rPr>
              <a:t>: incluye HISTORIAL_REPRODUCCIÓN (registro de visualización por usuario), CALIFICACIÓN (puntuaciones y reseñas), HISTORIAL_PAGO (transacciones y métodos de pago) y SUGERENCIA (recomendaciones generadas por el motor).</a:t>
            </a:r>
          </a:p>
          <a:p>
            <a:pPr algn="just">
              <a:lnSpc>
                <a:spcPts val="2550"/>
              </a:lnSpc>
            </a:pPr>
          </a:p>
        </p:txBody>
      </p:sp>
      <p:grpSp>
        <p:nvGrpSpPr>
          <p:cNvPr name="Group 14" id="14"/>
          <p:cNvGrpSpPr/>
          <p:nvPr/>
        </p:nvGrpSpPr>
        <p:grpSpPr>
          <a:xfrm rot="0">
            <a:off x="620008" y="790575"/>
            <a:ext cx="7524750" cy="1496551"/>
            <a:chOff x="0" y="0"/>
            <a:chExt cx="10033000" cy="1995402"/>
          </a:xfrm>
        </p:grpSpPr>
        <p:sp>
          <p:nvSpPr>
            <p:cNvPr name="TextBox 15" id="15"/>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SugoiAnime</a:t>
              </a:r>
            </a:p>
          </p:txBody>
        </p:sp>
        <p:sp>
          <p:nvSpPr>
            <p:cNvPr name="TextBox 16" id="16"/>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Modelo de datos</a:t>
              </a:r>
            </a:p>
          </p:txBody>
        </p:sp>
      </p:grpSp>
      <p:grpSp>
        <p:nvGrpSpPr>
          <p:cNvPr name="Group 17" id="17"/>
          <p:cNvGrpSpPr/>
          <p:nvPr/>
        </p:nvGrpSpPr>
        <p:grpSpPr>
          <a:xfrm rot="5400000">
            <a:off x="11432325" y="3089567"/>
            <a:ext cx="1061563" cy="11231815"/>
            <a:chOff x="0" y="0"/>
            <a:chExt cx="279589" cy="2958174"/>
          </a:xfrm>
        </p:grpSpPr>
        <p:sp>
          <p:nvSpPr>
            <p:cNvPr name="Freeform 18" id="18"/>
            <p:cNvSpPr/>
            <p:nvPr/>
          </p:nvSpPr>
          <p:spPr>
            <a:xfrm flipH="false" flipV="false" rot="0">
              <a:off x="0" y="0"/>
              <a:ext cx="279589" cy="2958174"/>
            </a:xfrm>
            <a:custGeom>
              <a:avLst/>
              <a:gdLst/>
              <a:ahLst/>
              <a:cxnLst/>
              <a:rect r="r" b="b" t="t" l="l"/>
              <a:pathLst>
                <a:path h="2958174" w="279589">
                  <a:moveTo>
                    <a:pt x="0" y="0"/>
                  </a:moveTo>
                  <a:lnTo>
                    <a:pt x="279589" y="0"/>
                  </a:lnTo>
                  <a:lnTo>
                    <a:pt x="279589" y="2958174"/>
                  </a:lnTo>
                  <a:lnTo>
                    <a:pt x="0" y="2958174"/>
                  </a:lnTo>
                  <a:close/>
                </a:path>
              </a:pathLst>
            </a:custGeom>
            <a:solidFill>
              <a:srgbClr val="F5F5F5"/>
            </a:solidFill>
          </p:spPr>
        </p:sp>
        <p:sp>
          <p:nvSpPr>
            <p:cNvPr name="TextBox 19" id="19"/>
            <p:cNvSpPr txBox="true"/>
            <p:nvPr/>
          </p:nvSpPr>
          <p:spPr>
            <a:xfrm>
              <a:off x="0" y="-76200"/>
              <a:ext cx="279589" cy="3034374"/>
            </a:xfrm>
            <a:prstGeom prst="rect">
              <a:avLst/>
            </a:prstGeom>
          </p:spPr>
          <p:txBody>
            <a:bodyPr anchor="ctr" rtlCol="false" tIns="50800" lIns="50800" bIns="50800" rIns="50800"/>
            <a:lstStyle/>
            <a:p>
              <a:pPr algn="ctr" marL="0" indent="0" lvl="0">
                <a:lnSpc>
                  <a:spcPts val="3422"/>
                </a:lnSpc>
              </a:pPr>
            </a:p>
          </p:txBody>
        </p:sp>
      </p:grpSp>
      <p:sp>
        <p:nvSpPr>
          <p:cNvPr name="TextBox 20" id="20"/>
          <p:cNvSpPr txBox="true"/>
          <p:nvPr/>
        </p:nvSpPr>
        <p:spPr>
          <a:xfrm rot="0">
            <a:off x="6683015" y="8337810"/>
            <a:ext cx="10658749" cy="659130"/>
          </a:xfrm>
          <a:prstGeom prst="rect">
            <a:avLst/>
          </a:prstGeom>
        </p:spPr>
        <p:txBody>
          <a:bodyPr anchor="t" rtlCol="false" tIns="0" lIns="0" bIns="0" rIns="0">
            <a:spAutoFit/>
          </a:bodyPr>
          <a:lstStyle/>
          <a:p>
            <a:pPr algn="just">
              <a:lnSpc>
                <a:spcPts val="2550"/>
              </a:lnSpc>
            </a:pPr>
            <a:r>
              <a:rPr lang="en-US" sz="1700">
                <a:solidFill>
                  <a:srgbClr val="333333"/>
                </a:solidFill>
                <a:latin typeface="Poppins"/>
                <a:ea typeface="Poppins"/>
                <a:cs typeface="Poppins"/>
                <a:sym typeface="Poppins"/>
              </a:rPr>
              <a:t>Las relaciones entre tablas siguen un esquema relacional normalizado con claves foráneas que conectan usuarios con su historial, suscripciones y contenido consumido.</a:t>
            </a:r>
          </a:p>
        </p:txBody>
      </p:sp>
      <p:sp>
        <p:nvSpPr>
          <p:cNvPr name="Freeform 21" id="21"/>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13335000" y="6166413"/>
            <a:ext cx="6594044" cy="4305347"/>
            <a:chOff x="0" y="0"/>
            <a:chExt cx="1736703" cy="1133919"/>
          </a:xfrm>
        </p:grpSpPr>
        <p:sp>
          <p:nvSpPr>
            <p:cNvPr name="Freeform 3" id="3"/>
            <p:cNvSpPr/>
            <p:nvPr/>
          </p:nvSpPr>
          <p:spPr>
            <a:xfrm flipH="false" flipV="false" rot="0">
              <a:off x="0" y="0"/>
              <a:ext cx="1736703" cy="1133919"/>
            </a:xfrm>
            <a:custGeom>
              <a:avLst/>
              <a:gdLst/>
              <a:ahLst/>
              <a:cxnLst/>
              <a:rect r="r" b="b" t="t" l="l"/>
              <a:pathLst>
                <a:path h="1133919" w="1736703">
                  <a:moveTo>
                    <a:pt x="0" y="0"/>
                  </a:moveTo>
                  <a:lnTo>
                    <a:pt x="1736703" y="0"/>
                  </a:lnTo>
                  <a:lnTo>
                    <a:pt x="1736703" y="1133919"/>
                  </a:lnTo>
                  <a:lnTo>
                    <a:pt x="0" y="1133919"/>
                  </a:lnTo>
                  <a:close/>
                </a:path>
              </a:pathLst>
            </a:custGeom>
            <a:solidFill>
              <a:srgbClr val="0C4C31"/>
            </a:solidFill>
          </p:spPr>
        </p:sp>
        <p:sp>
          <p:nvSpPr>
            <p:cNvPr name="TextBox 4" id="4"/>
            <p:cNvSpPr txBox="true"/>
            <p:nvPr/>
          </p:nvSpPr>
          <p:spPr>
            <a:xfrm>
              <a:off x="0" y="-76200"/>
              <a:ext cx="1736703" cy="1210119"/>
            </a:xfrm>
            <a:prstGeom prst="rect">
              <a:avLst/>
            </a:prstGeom>
          </p:spPr>
          <p:txBody>
            <a:bodyPr anchor="ctr" rtlCol="false" tIns="50800" lIns="50800" bIns="50800" rIns="50800"/>
            <a:lstStyle/>
            <a:p>
              <a:pPr algn="ctr" marL="0" indent="0" lvl="0">
                <a:lnSpc>
                  <a:spcPts val="3422"/>
                </a:lnSpc>
              </a:pPr>
            </a:p>
          </p:txBody>
        </p:sp>
      </p:grpSp>
      <p:grpSp>
        <p:nvGrpSpPr>
          <p:cNvPr name="Group 5" id="5"/>
          <p:cNvGrpSpPr/>
          <p:nvPr/>
        </p:nvGrpSpPr>
        <p:grpSpPr>
          <a:xfrm rot="0">
            <a:off x="629533" y="790575"/>
            <a:ext cx="7524750" cy="1496551"/>
            <a:chOff x="0" y="0"/>
            <a:chExt cx="10033000" cy="1995402"/>
          </a:xfrm>
        </p:grpSpPr>
        <p:sp>
          <p:nvSpPr>
            <p:cNvPr name="TextBox 6" id="6"/>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0C4C31"/>
                  </a:solidFill>
                  <a:latin typeface="DM Sans Bold"/>
                  <a:ea typeface="DM Sans Bold"/>
                  <a:cs typeface="DM Sans Bold"/>
                  <a:sym typeface="DM Sans Bold"/>
                </a:rPr>
                <a:t>MisChauchas</a:t>
              </a:r>
            </a:p>
          </p:txBody>
        </p:sp>
        <p:sp>
          <p:nvSpPr>
            <p:cNvPr name="TextBox 7" id="7"/>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0C4C31"/>
                  </a:solidFill>
                  <a:latin typeface="DM Sans Bold"/>
                  <a:ea typeface="DM Sans Bold"/>
                  <a:cs typeface="DM Sans Bold"/>
                  <a:sym typeface="DM Sans Bold"/>
                </a:rPr>
                <a:t>APP de finanzas personales</a:t>
              </a:r>
            </a:p>
          </p:txBody>
        </p:sp>
      </p:grpSp>
      <p:grpSp>
        <p:nvGrpSpPr>
          <p:cNvPr name="Group 8" id="8"/>
          <p:cNvGrpSpPr/>
          <p:nvPr/>
        </p:nvGrpSpPr>
        <p:grpSpPr>
          <a:xfrm rot="0">
            <a:off x="581025" y="2525251"/>
            <a:ext cx="8382000" cy="6571814"/>
            <a:chOff x="0" y="0"/>
            <a:chExt cx="2207605" cy="1730848"/>
          </a:xfrm>
        </p:grpSpPr>
        <p:sp>
          <p:nvSpPr>
            <p:cNvPr name="Freeform 9" id="9"/>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10" id="10"/>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grpSp>
        <p:nvGrpSpPr>
          <p:cNvPr name="Group 11" id="11"/>
          <p:cNvGrpSpPr/>
          <p:nvPr/>
        </p:nvGrpSpPr>
        <p:grpSpPr>
          <a:xfrm rot="0">
            <a:off x="514350" y="8743950"/>
            <a:ext cx="1028700" cy="10287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3" id="13"/>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4" id="14"/>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05</a:t>
            </a:r>
          </a:p>
        </p:txBody>
      </p:sp>
      <p:sp>
        <p:nvSpPr>
          <p:cNvPr name="TextBox 15" id="15"/>
          <p:cNvSpPr txBox="true"/>
          <p:nvPr/>
        </p:nvSpPr>
        <p:spPr>
          <a:xfrm rot="0">
            <a:off x="877183" y="2409847"/>
            <a:ext cx="7859260" cy="6488430"/>
          </a:xfrm>
          <a:prstGeom prst="rect">
            <a:avLst/>
          </a:prstGeom>
        </p:spPr>
        <p:txBody>
          <a:bodyPr anchor="t" rtlCol="false" tIns="0" lIns="0" bIns="0" rIns="0">
            <a:spAutoFit/>
          </a:bodyPr>
          <a:lstStyle/>
          <a:p>
            <a:pPr algn="just">
              <a:lnSpc>
                <a:spcPts val="2550"/>
              </a:lnSpc>
            </a:pPr>
            <a:r>
              <a:rPr lang="en-US" b="true" sz="1700">
                <a:solidFill>
                  <a:srgbClr val="333333"/>
                </a:solidFill>
                <a:latin typeface="Poppins Bold"/>
                <a:ea typeface="Poppins Bold"/>
                <a:cs typeface="Poppins Bold"/>
                <a:sym typeface="Poppins Bold"/>
              </a:rPr>
              <a:t>Alcance</a:t>
            </a:r>
          </a:p>
          <a:p>
            <a:pPr algn="just">
              <a:lnSpc>
                <a:spcPts val="2550"/>
              </a:lnSpc>
            </a:pPr>
            <a:r>
              <a:rPr lang="en-US" sz="1700">
                <a:solidFill>
                  <a:srgbClr val="333333"/>
                </a:solidFill>
                <a:latin typeface="Poppins"/>
                <a:ea typeface="Poppins"/>
                <a:cs typeface="Poppins"/>
                <a:sym typeface="Poppins"/>
              </a:rPr>
              <a:t>Aplicación web/móvil de gestión de finanzas personales orientada a usuarios chilenos. Permite registrar ingresos y gastos, definir presupuestos mensuales por categoría y visualizar el comportamiento financiero del usuario en el tiempo.</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Objetivo General</a:t>
            </a:r>
          </a:p>
          <a:p>
            <a:pPr algn="just">
              <a:lnSpc>
                <a:spcPts val="2550"/>
              </a:lnSpc>
            </a:pPr>
            <a:r>
              <a:rPr lang="en-US" sz="1700">
                <a:solidFill>
                  <a:srgbClr val="333333"/>
                </a:solidFill>
                <a:latin typeface="Poppins"/>
                <a:ea typeface="Poppins"/>
                <a:cs typeface="Poppins"/>
                <a:sym typeface="Poppins"/>
              </a:rPr>
              <a:t>Desarrollar una plataforma de finanzas personales que facilite el control de ingresos, gastos y presupuestos, promoviendo hábitos de ahorro en los usuarios.</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Objetivos Específicos</a:t>
            </a:r>
          </a:p>
          <a:p>
            <a:pPr algn="just">
              <a:lnSpc>
                <a:spcPts val="2550"/>
              </a:lnSpc>
            </a:pPr>
            <a:r>
              <a:rPr lang="en-US" sz="1700">
                <a:solidFill>
                  <a:srgbClr val="333333"/>
                </a:solidFill>
                <a:latin typeface="Poppins"/>
                <a:ea typeface="Poppins"/>
                <a:cs typeface="Poppins"/>
                <a:sym typeface="Poppins"/>
              </a:rPr>
              <a:t>• Implementar un sistema de autenticación seguro con JWT y gestión de sesiones.</a:t>
            </a:r>
          </a:p>
          <a:p>
            <a:pPr algn="just">
              <a:lnSpc>
                <a:spcPts val="2550"/>
              </a:lnSpc>
            </a:pPr>
            <a:r>
              <a:rPr lang="en-US" sz="1700">
                <a:solidFill>
                  <a:srgbClr val="333333"/>
                </a:solidFill>
                <a:latin typeface="Poppins"/>
                <a:ea typeface="Poppins"/>
                <a:cs typeface="Poppins"/>
                <a:sym typeface="Poppins"/>
              </a:rPr>
              <a:t>• Diseñar un módulo transaccional para el registro y categorización de movimientos financieros.</a:t>
            </a:r>
          </a:p>
          <a:p>
            <a:pPr algn="just">
              <a:lnSpc>
                <a:spcPts val="2550"/>
              </a:lnSpc>
            </a:pPr>
            <a:r>
              <a:rPr lang="en-US" sz="1700">
                <a:solidFill>
                  <a:srgbClr val="333333"/>
                </a:solidFill>
                <a:latin typeface="Poppins"/>
                <a:ea typeface="Poppins"/>
                <a:cs typeface="Poppins"/>
                <a:sym typeface="Poppins"/>
              </a:rPr>
              <a:t>• Crear un módulo de presupuestos con alertas al superar límites definidos por el usuario.</a:t>
            </a:r>
          </a:p>
          <a:p>
            <a:pPr algn="just">
              <a:lnSpc>
                <a:spcPts val="2550"/>
              </a:lnSpc>
            </a:pPr>
            <a:r>
              <a:rPr lang="en-US" sz="1700">
                <a:solidFill>
                  <a:srgbClr val="333333"/>
                </a:solidFill>
                <a:latin typeface="Poppins"/>
                <a:ea typeface="Poppins"/>
                <a:cs typeface="Poppins"/>
                <a:sym typeface="Poppins"/>
              </a:rPr>
              <a:t>• Proveer dashboards con indicadores clave (balance, tendencias, distribución por categoría).</a:t>
            </a:r>
          </a:p>
        </p:txBody>
      </p:sp>
      <p:grpSp>
        <p:nvGrpSpPr>
          <p:cNvPr name="Group 16" id="16"/>
          <p:cNvGrpSpPr/>
          <p:nvPr/>
        </p:nvGrpSpPr>
        <p:grpSpPr>
          <a:xfrm rot="0">
            <a:off x="9144000" y="2503098"/>
            <a:ext cx="8382000" cy="6571814"/>
            <a:chOff x="0" y="0"/>
            <a:chExt cx="2207605" cy="1730848"/>
          </a:xfrm>
        </p:grpSpPr>
        <p:sp>
          <p:nvSpPr>
            <p:cNvPr name="Freeform 17" id="17"/>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18" id="18"/>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sp>
        <p:nvSpPr>
          <p:cNvPr name="TextBox 19" id="19"/>
          <p:cNvSpPr txBox="true"/>
          <p:nvPr/>
        </p:nvSpPr>
        <p:spPr>
          <a:xfrm rot="0">
            <a:off x="9390989" y="2917753"/>
            <a:ext cx="7978927" cy="5516880"/>
          </a:xfrm>
          <a:prstGeom prst="rect">
            <a:avLst/>
          </a:prstGeom>
        </p:spPr>
        <p:txBody>
          <a:bodyPr anchor="t" rtlCol="false" tIns="0" lIns="0" bIns="0" rIns="0">
            <a:spAutoFit/>
          </a:bodyPr>
          <a:lstStyle/>
          <a:p>
            <a:pPr algn="just">
              <a:lnSpc>
                <a:spcPts val="2550"/>
              </a:lnSpc>
            </a:pPr>
            <a:r>
              <a:rPr lang="en-US" b="true" sz="1700">
                <a:solidFill>
                  <a:srgbClr val="333333"/>
                </a:solidFill>
                <a:latin typeface="Poppins Bold"/>
                <a:ea typeface="Poppins Bold"/>
                <a:cs typeface="Poppins Bold"/>
                <a:sym typeface="Poppins Bold"/>
              </a:rPr>
              <a:t>Arquitectura</a:t>
            </a:r>
          </a:p>
          <a:p>
            <a:pPr algn="just">
              <a:lnSpc>
                <a:spcPts val="2550"/>
              </a:lnSpc>
            </a:pPr>
            <a:r>
              <a:rPr lang="en-US" sz="1700">
                <a:solidFill>
                  <a:srgbClr val="333333"/>
                </a:solidFill>
                <a:latin typeface="Poppins"/>
                <a:ea typeface="Poppins"/>
                <a:cs typeface="Poppins"/>
                <a:sym typeface="Poppins"/>
              </a:rPr>
              <a:t>Su arquitectura esta diseñada con un patrón de microservicios.</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Base de datos</a:t>
            </a:r>
          </a:p>
          <a:p>
            <a:pPr algn="just">
              <a:lnSpc>
                <a:spcPts val="2550"/>
              </a:lnSpc>
            </a:pPr>
            <a:r>
              <a:rPr lang="en-US" sz="1700">
                <a:solidFill>
                  <a:srgbClr val="333333"/>
                </a:solidFill>
                <a:latin typeface="Poppins"/>
                <a:ea typeface="Poppins"/>
                <a:cs typeface="Poppins"/>
                <a:sym typeface="Poppins"/>
              </a:rPr>
              <a:t>El modelo de datos de MisChauchas se distribuye en bases de datos independientes por microservicio, </a:t>
            </a:r>
            <a:r>
              <a:rPr lang="en-US" sz="1700">
                <a:solidFill>
                  <a:srgbClr val="333333"/>
                </a:solidFill>
                <a:latin typeface="Poppins"/>
                <a:ea typeface="Poppins"/>
                <a:cs typeface="Poppins"/>
                <a:sym typeface="Poppins"/>
              </a:rPr>
              <a:t>ga</a:t>
            </a:r>
            <a:r>
              <a:rPr lang="en-US" sz="1700">
                <a:solidFill>
                  <a:srgbClr val="333333"/>
                </a:solidFill>
                <a:latin typeface="Poppins"/>
                <a:ea typeface="Poppins"/>
                <a:cs typeface="Poppins"/>
                <a:sym typeface="Poppins"/>
              </a:rPr>
              <a:t>ran</a:t>
            </a:r>
            <a:r>
              <a:rPr lang="en-US" sz="1700">
                <a:solidFill>
                  <a:srgbClr val="333333"/>
                </a:solidFill>
                <a:latin typeface="Poppins"/>
                <a:ea typeface="Poppins"/>
                <a:cs typeface="Poppins"/>
                <a:sym typeface="Poppins"/>
              </a:rPr>
              <a:t>tizando de</a:t>
            </a:r>
            <a:r>
              <a:rPr lang="en-US" sz="1700">
                <a:solidFill>
                  <a:srgbClr val="333333"/>
                </a:solidFill>
                <a:latin typeface="Poppins"/>
                <a:ea typeface="Poppins"/>
                <a:cs typeface="Poppins"/>
                <a:sym typeface="Poppins"/>
              </a:rPr>
              <a:t>sac</a:t>
            </a:r>
            <a:r>
              <a:rPr lang="en-US" sz="1700">
                <a:solidFill>
                  <a:srgbClr val="333333"/>
                </a:solidFill>
                <a:latin typeface="Poppins"/>
                <a:ea typeface="Poppins"/>
                <a:cs typeface="Poppins"/>
                <a:sym typeface="Poppins"/>
              </a:rPr>
              <a:t>oplam</a:t>
            </a:r>
            <a:r>
              <a:rPr lang="en-US" sz="1700">
                <a:solidFill>
                  <a:srgbClr val="333333"/>
                </a:solidFill>
                <a:latin typeface="Poppins"/>
                <a:ea typeface="Poppins"/>
                <a:cs typeface="Poppins"/>
                <a:sym typeface="Poppins"/>
              </a:rPr>
              <a:t>i</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to</a:t>
            </a:r>
            <a:r>
              <a:rPr lang="en-US" sz="1700">
                <a:solidFill>
                  <a:srgbClr val="333333"/>
                </a:solidFill>
                <a:latin typeface="Poppins"/>
                <a:ea typeface="Poppins"/>
                <a:cs typeface="Poppins"/>
                <a:sym typeface="Poppins"/>
              </a:rPr>
              <a:t> y es</a:t>
            </a:r>
            <a:r>
              <a:rPr lang="en-US" sz="1700">
                <a:solidFill>
                  <a:srgbClr val="333333"/>
                </a:solidFill>
                <a:latin typeface="Poppins"/>
                <a:ea typeface="Poppins"/>
                <a:cs typeface="Poppins"/>
                <a:sym typeface="Poppins"/>
              </a:rPr>
              <a:t>calabilidad</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Metodología </a:t>
            </a:r>
          </a:p>
          <a:p>
            <a:pPr algn="just">
              <a:lnSpc>
                <a:spcPts val="2550"/>
              </a:lnSpc>
            </a:pPr>
            <a:r>
              <a:rPr lang="en-US" sz="1700">
                <a:solidFill>
                  <a:srgbClr val="333333"/>
                </a:solidFill>
                <a:latin typeface="Poppins"/>
                <a:ea typeface="Poppins"/>
                <a:cs typeface="Poppins"/>
                <a:sym typeface="Poppins"/>
              </a:rPr>
              <a:t>La metodología que se utilizara para este proyecto es Scrum (Ágil). Por que, se adopta Scrum porque el proyecto requiere entregas incrementales, adaptación continua a cambios en los requisitos y retroalimentación constante </a:t>
            </a:r>
            <a:r>
              <a:rPr lang="en-US" sz="1700">
                <a:solidFill>
                  <a:srgbClr val="333333"/>
                </a:solidFill>
                <a:latin typeface="Poppins"/>
                <a:ea typeface="Poppins"/>
                <a:cs typeface="Poppins"/>
                <a:sym typeface="Poppins"/>
              </a:rPr>
              <a:t>d</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l</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usuari</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A difere</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cia de l</a:t>
            </a:r>
            <a:r>
              <a:rPr lang="en-US" sz="1700">
                <a:solidFill>
                  <a:srgbClr val="333333"/>
                </a:solidFill>
                <a:latin typeface="Poppins"/>
                <a:ea typeface="Poppins"/>
                <a:cs typeface="Poppins"/>
                <a:sym typeface="Poppins"/>
              </a:rPr>
              <a:t>a metodología tradicional </a:t>
            </a:r>
            <a:r>
              <a:rPr lang="en-US" sz="1700">
                <a:solidFill>
                  <a:srgbClr val="333333"/>
                </a:solidFill>
                <a:latin typeface="Poppins"/>
                <a:ea typeface="Poppins"/>
                <a:cs typeface="Poppins"/>
                <a:sym typeface="Poppins"/>
              </a:rPr>
              <a:t>(ca</a:t>
            </a:r>
            <a:r>
              <a:rPr lang="en-US" sz="1700">
                <a:solidFill>
                  <a:srgbClr val="333333"/>
                </a:solidFill>
                <a:latin typeface="Poppins"/>
                <a:ea typeface="Poppins"/>
                <a:cs typeface="Poppins"/>
                <a:sym typeface="Poppins"/>
              </a:rPr>
              <a:t>s</a:t>
            </a:r>
            <a:r>
              <a:rPr lang="en-US" sz="1700">
                <a:solidFill>
                  <a:srgbClr val="333333"/>
                </a:solidFill>
                <a:latin typeface="Poppins"/>
                <a:ea typeface="Poppins"/>
                <a:cs typeface="Poppins"/>
                <a:sym typeface="Poppins"/>
              </a:rPr>
              <a:t>ca</a:t>
            </a:r>
            <a:r>
              <a:rPr lang="en-US" sz="1700">
                <a:solidFill>
                  <a:srgbClr val="333333"/>
                </a:solidFill>
                <a:latin typeface="Poppins"/>
                <a:ea typeface="Poppins"/>
                <a:cs typeface="Poppins"/>
                <a:sym typeface="Poppins"/>
              </a:rPr>
              <a:t>da</a:t>
            </a:r>
            <a:r>
              <a:rPr lang="en-US" sz="1700">
                <a:solidFill>
                  <a:srgbClr val="333333"/>
                </a:solidFill>
                <a:latin typeface="Poppins"/>
                <a:ea typeface="Poppins"/>
                <a:cs typeface="Poppins"/>
                <a:sym typeface="Poppins"/>
              </a:rPr>
              <a:t>),</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Sc</a:t>
            </a:r>
            <a:r>
              <a:rPr lang="en-US" sz="1700">
                <a:solidFill>
                  <a:srgbClr val="333333"/>
                </a:solidFill>
                <a:latin typeface="Poppins"/>
                <a:ea typeface="Poppins"/>
                <a:cs typeface="Poppins"/>
                <a:sym typeface="Poppins"/>
              </a:rPr>
              <a:t>ru</a:t>
            </a:r>
            <a:r>
              <a:rPr lang="en-US" sz="1700">
                <a:solidFill>
                  <a:srgbClr val="333333"/>
                </a:solidFill>
                <a:latin typeface="Poppins"/>
                <a:ea typeface="Poppins"/>
                <a:cs typeface="Poppins"/>
                <a:sym typeface="Poppins"/>
              </a:rPr>
              <a:t>m p</a:t>
            </a:r>
            <a:r>
              <a:rPr lang="en-US" sz="1700">
                <a:solidFill>
                  <a:srgbClr val="333333"/>
                </a:solidFill>
                <a:latin typeface="Poppins"/>
                <a:ea typeface="Poppins"/>
                <a:cs typeface="Poppins"/>
                <a:sym typeface="Poppins"/>
              </a:rPr>
              <a:t>er</a:t>
            </a:r>
            <a:r>
              <a:rPr lang="en-US" sz="1700">
                <a:solidFill>
                  <a:srgbClr val="333333"/>
                </a:solidFill>
                <a:latin typeface="Poppins"/>
                <a:ea typeface="Poppins"/>
                <a:cs typeface="Poppins"/>
                <a:sym typeface="Poppins"/>
              </a:rPr>
              <a:t>mit</a:t>
            </a:r>
            <a:r>
              <a:rPr lang="en-US" sz="1700">
                <a:solidFill>
                  <a:srgbClr val="333333"/>
                </a:solidFill>
                <a:latin typeface="Poppins"/>
                <a:ea typeface="Poppins"/>
                <a:cs typeface="Poppins"/>
                <a:sym typeface="Poppins"/>
              </a:rPr>
              <a:t>e it</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ra</a:t>
            </a:r>
            <a:r>
              <a:rPr lang="en-US" sz="1700">
                <a:solidFill>
                  <a:srgbClr val="333333"/>
                </a:solidFill>
                <a:latin typeface="Poppins"/>
                <a:ea typeface="Poppins"/>
                <a:cs typeface="Poppins"/>
                <a:sym typeface="Poppins"/>
              </a:rPr>
              <a:t>r</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rápi</a:t>
            </a:r>
            <a:r>
              <a:rPr lang="en-US" sz="1700">
                <a:solidFill>
                  <a:srgbClr val="333333"/>
                </a:solidFill>
                <a:latin typeface="Poppins"/>
                <a:ea typeface="Poppins"/>
                <a:cs typeface="Poppins"/>
                <a:sym typeface="Poppins"/>
              </a:rPr>
              <a:t>d</a:t>
            </a:r>
            <a:r>
              <a:rPr lang="en-US" sz="1700">
                <a:solidFill>
                  <a:srgbClr val="333333"/>
                </a:solidFill>
                <a:latin typeface="Poppins"/>
                <a:ea typeface="Poppins"/>
                <a:cs typeface="Poppins"/>
                <a:sym typeface="Poppins"/>
              </a:rPr>
              <a:t>am</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nt</a:t>
            </a:r>
            <a:r>
              <a:rPr lang="en-US" sz="1700">
                <a:solidFill>
                  <a:srgbClr val="333333"/>
                </a:solidFill>
                <a:latin typeface="Poppins"/>
                <a:ea typeface="Poppins"/>
                <a:cs typeface="Poppins"/>
                <a:sym typeface="Poppins"/>
              </a:rPr>
              <a:t>e, p</a:t>
            </a:r>
            <a:r>
              <a:rPr lang="en-US" sz="1700">
                <a:solidFill>
                  <a:srgbClr val="333333"/>
                </a:solidFill>
                <a:latin typeface="Poppins"/>
                <a:ea typeface="Poppins"/>
                <a:cs typeface="Poppins"/>
                <a:sym typeface="Poppins"/>
              </a:rPr>
              <a:t>ri</a:t>
            </a:r>
            <a:r>
              <a:rPr lang="en-US" sz="1700">
                <a:solidFill>
                  <a:srgbClr val="333333"/>
                </a:solidFill>
                <a:latin typeface="Poppins"/>
                <a:ea typeface="Poppins"/>
                <a:cs typeface="Poppins"/>
                <a:sym typeface="Poppins"/>
              </a:rPr>
              <a:t>or</a:t>
            </a:r>
            <a:r>
              <a:rPr lang="en-US" sz="1700">
                <a:solidFill>
                  <a:srgbClr val="333333"/>
                </a:solidFill>
                <a:latin typeface="Poppins"/>
                <a:ea typeface="Poppins"/>
                <a:cs typeface="Poppins"/>
                <a:sym typeface="Poppins"/>
              </a:rPr>
              <a:t>izar</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f</a:t>
            </a:r>
            <a:r>
              <a:rPr lang="en-US" sz="1700">
                <a:solidFill>
                  <a:srgbClr val="333333"/>
                </a:solidFill>
                <a:latin typeface="Poppins"/>
                <a:ea typeface="Poppins"/>
                <a:cs typeface="Poppins"/>
                <a:sym typeface="Poppins"/>
              </a:rPr>
              <a:t>un</a:t>
            </a:r>
            <a:r>
              <a:rPr lang="en-US" sz="1700">
                <a:solidFill>
                  <a:srgbClr val="333333"/>
                </a:solidFill>
                <a:latin typeface="Poppins"/>
                <a:ea typeface="Poppins"/>
                <a:cs typeface="Poppins"/>
                <a:sym typeface="Poppins"/>
              </a:rPr>
              <a:t>ci</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nalidad</a:t>
            </a:r>
            <a:r>
              <a:rPr lang="en-US" sz="1700">
                <a:solidFill>
                  <a:srgbClr val="333333"/>
                </a:solidFill>
                <a:latin typeface="Poppins"/>
                <a:ea typeface="Poppins"/>
                <a:cs typeface="Poppins"/>
                <a:sym typeface="Poppins"/>
              </a:rPr>
              <a:t>es </a:t>
            </a:r>
            <a:r>
              <a:rPr lang="en-US" sz="1700">
                <a:solidFill>
                  <a:srgbClr val="333333"/>
                </a:solidFill>
                <a:latin typeface="Poppins"/>
                <a:ea typeface="Poppins"/>
                <a:cs typeface="Poppins"/>
                <a:sym typeface="Poppins"/>
              </a:rPr>
              <a:t>d</a:t>
            </a:r>
            <a:r>
              <a:rPr lang="en-US" sz="1700">
                <a:solidFill>
                  <a:srgbClr val="333333"/>
                </a:solidFill>
                <a:latin typeface="Poppins"/>
                <a:ea typeface="Poppins"/>
                <a:cs typeface="Poppins"/>
                <a:sym typeface="Poppins"/>
              </a:rPr>
              <a:t>e </a:t>
            </a:r>
            <a:r>
              <a:rPr lang="en-US" sz="1700">
                <a:solidFill>
                  <a:srgbClr val="333333"/>
                </a:solidFill>
                <a:latin typeface="Poppins"/>
                <a:ea typeface="Poppins"/>
                <a:cs typeface="Poppins"/>
                <a:sym typeface="Poppins"/>
              </a:rPr>
              <a:t>m</a:t>
            </a:r>
            <a:r>
              <a:rPr lang="en-US" sz="1700">
                <a:solidFill>
                  <a:srgbClr val="333333"/>
                </a:solidFill>
                <a:latin typeface="Poppins"/>
                <a:ea typeface="Poppins"/>
                <a:cs typeface="Poppins"/>
                <a:sym typeface="Poppins"/>
              </a:rPr>
              <a:t>a</a:t>
            </a:r>
            <a:r>
              <a:rPr lang="en-US" sz="1700">
                <a:solidFill>
                  <a:srgbClr val="333333"/>
                </a:solidFill>
                <a:latin typeface="Poppins"/>
                <a:ea typeface="Poppins"/>
                <a:cs typeface="Poppins"/>
                <a:sym typeface="Poppins"/>
              </a:rPr>
              <a:t>yo</a:t>
            </a:r>
            <a:r>
              <a:rPr lang="en-US" sz="1700">
                <a:solidFill>
                  <a:srgbClr val="333333"/>
                </a:solidFill>
                <a:latin typeface="Poppins"/>
                <a:ea typeface="Poppins"/>
                <a:cs typeface="Poppins"/>
                <a:sym typeface="Poppins"/>
              </a:rPr>
              <a:t>r</a:t>
            </a:r>
            <a:r>
              <a:rPr lang="en-US" sz="1700">
                <a:solidFill>
                  <a:srgbClr val="333333"/>
                </a:solidFill>
                <a:latin typeface="Poppins"/>
                <a:ea typeface="Poppins"/>
                <a:cs typeface="Poppins"/>
                <a:sym typeface="Poppins"/>
              </a:rPr>
              <a:t> v</a:t>
            </a:r>
            <a:r>
              <a:rPr lang="en-US" sz="1700">
                <a:solidFill>
                  <a:srgbClr val="333333"/>
                </a:solidFill>
                <a:latin typeface="Poppins"/>
                <a:ea typeface="Poppins"/>
                <a:cs typeface="Poppins"/>
                <a:sym typeface="Poppins"/>
              </a:rPr>
              <a:t>a</a:t>
            </a:r>
            <a:r>
              <a:rPr lang="en-US" sz="1700">
                <a:solidFill>
                  <a:srgbClr val="333333"/>
                </a:solidFill>
                <a:latin typeface="Poppins"/>
                <a:ea typeface="Poppins"/>
                <a:cs typeface="Poppins"/>
                <a:sym typeface="Poppins"/>
              </a:rPr>
              <a:t>lor</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y</a:t>
            </a:r>
            <a:r>
              <a:rPr lang="en-US" sz="1700">
                <a:solidFill>
                  <a:srgbClr val="333333"/>
                </a:solidFill>
                <a:latin typeface="Poppins"/>
                <a:ea typeface="Poppins"/>
                <a:cs typeface="Poppins"/>
                <a:sym typeface="Poppins"/>
              </a:rPr>
              <a:t> d</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te</a:t>
            </a:r>
            <a:r>
              <a:rPr lang="en-US" sz="1700">
                <a:solidFill>
                  <a:srgbClr val="333333"/>
                </a:solidFill>
                <a:latin typeface="Poppins"/>
                <a:ea typeface="Poppins"/>
                <a:cs typeface="Poppins"/>
                <a:sym typeface="Poppins"/>
              </a:rPr>
              <a:t>ctar</a:t>
            </a:r>
            <a:r>
              <a:rPr lang="en-US" sz="1700">
                <a:solidFill>
                  <a:srgbClr val="333333"/>
                </a:solidFill>
                <a:latin typeface="Poppins"/>
                <a:ea typeface="Poppins"/>
                <a:cs typeface="Poppins"/>
                <a:sym typeface="Poppins"/>
              </a:rPr>
              <a:t> p</a:t>
            </a:r>
            <a:r>
              <a:rPr lang="en-US" sz="1700">
                <a:solidFill>
                  <a:srgbClr val="333333"/>
                </a:solidFill>
                <a:latin typeface="Poppins"/>
                <a:ea typeface="Poppins"/>
                <a:cs typeface="Poppins"/>
                <a:sym typeface="Poppins"/>
              </a:rPr>
              <a:t>robl</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mas</a:t>
            </a:r>
            <a:r>
              <a:rPr lang="en-US" sz="1700">
                <a:solidFill>
                  <a:srgbClr val="333333"/>
                </a:solidFill>
                <a:latin typeface="Poppins"/>
                <a:ea typeface="Poppins"/>
                <a:cs typeface="Poppins"/>
                <a:sym typeface="Poppins"/>
              </a:rPr>
              <a:t> de </a:t>
            </a:r>
            <a:r>
              <a:rPr lang="en-US" sz="1700">
                <a:solidFill>
                  <a:srgbClr val="333333"/>
                </a:solidFill>
                <a:latin typeface="Poppins"/>
                <a:ea typeface="Poppins"/>
                <a:cs typeface="Poppins"/>
                <a:sym typeface="Poppins"/>
              </a:rPr>
              <a:t>form</a:t>
            </a:r>
            <a:r>
              <a:rPr lang="en-US" sz="1700">
                <a:solidFill>
                  <a:srgbClr val="333333"/>
                </a:solidFill>
                <a:latin typeface="Poppins"/>
                <a:ea typeface="Poppins"/>
                <a:cs typeface="Poppins"/>
                <a:sym typeface="Poppins"/>
              </a:rPr>
              <a:t>a te</a:t>
            </a:r>
            <a:r>
              <a:rPr lang="en-US" sz="1700">
                <a:solidFill>
                  <a:srgbClr val="333333"/>
                </a:solidFill>
                <a:latin typeface="Poppins"/>
                <a:ea typeface="Poppins"/>
                <a:cs typeface="Poppins"/>
                <a:sym typeface="Poppins"/>
              </a:rPr>
              <a:t>mpra</a:t>
            </a:r>
            <a:r>
              <a:rPr lang="en-US" sz="1700">
                <a:solidFill>
                  <a:srgbClr val="333333"/>
                </a:solidFill>
                <a:latin typeface="Poppins"/>
                <a:ea typeface="Poppins"/>
                <a:cs typeface="Poppins"/>
                <a:sym typeface="Poppins"/>
              </a:rPr>
              <a:t>na </a:t>
            </a:r>
            <a:r>
              <a:rPr lang="en-US" sz="1700">
                <a:solidFill>
                  <a:srgbClr val="333333"/>
                </a:solidFill>
                <a:latin typeface="Poppins"/>
                <a:ea typeface="Poppins"/>
                <a:cs typeface="Poppins"/>
                <a:sym typeface="Poppins"/>
              </a:rPr>
              <a:t>m</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dia</a:t>
            </a:r>
            <a:r>
              <a:rPr lang="en-US" sz="1700">
                <a:solidFill>
                  <a:srgbClr val="333333"/>
                </a:solidFill>
                <a:latin typeface="Poppins"/>
                <a:ea typeface="Poppins"/>
                <a:cs typeface="Poppins"/>
                <a:sym typeface="Poppins"/>
              </a:rPr>
              <a:t>nte</a:t>
            </a:r>
            <a:r>
              <a:rPr lang="en-US" sz="1700">
                <a:solidFill>
                  <a:srgbClr val="333333"/>
                </a:solidFill>
                <a:latin typeface="Poppins"/>
                <a:ea typeface="Poppins"/>
                <a:cs typeface="Poppins"/>
                <a:sym typeface="Poppins"/>
              </a:rPr>
              <a:t> spr</a:t>
            </a:r>
            <a:r>
              <a:rPr lang="en-US" sz="1700">
                <a:solidFill>
                  <a:srgbClr val="333333"/>
                </a:solidFill>
                <a:latin typeface="Poppins"/>
                <a:ea typeface="Poppins"/>
                <a:cs typeface="Poppins"/>
                <a:sym typeface="Poppins"/>
              </a:rPr>
              <a:t>i</a:t>
            </a:r>
            <a:r>
              <a:rPr lang="en-US" sz="1700">
                <a:solidFill>
                  <a:srgbClr val="333333"/>
                </a:solidFill>
                <a:latin typeface="Poppins"/>
                <a:ea typeface="Poppins"/>
                <a:cs typeface="Poppins"/>
                <a:sym typeface="Poppins"/>
              </a:rPr>
              <a:t>nts</a:t>
            </a:r>
            <a:r>
              <a:rPr lang="en-US" sz="1700">
                <a:solidFill>
                  <a:srgbClr val="333333"/>
                </a:solidFill>
                <a:latin typeface="Poppins"/>
                <a:ea typeface="Poppins"/>
                <a:cs typeface="Poppins"/>
                <a:sym typeface="Poppins"/>
              </a:rPr>
              <a:t> co</a:t>
            </a:r>
            <a:r>
              <a:rPr lang="en-US" sz="1700">
                <a:solidFill>
                  <a:srgbClr val="333333"/>
                </a:solidFill>
                <a:latin typeface="Poppins"/>
                <a:ea typeface="Poppins"/>
                <a:cs typeface="Poppins"/>
                <a:sym typeface="Poppins"/>
              </a:rPr>
              <a:t>rt</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s</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de</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2 s</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mana</a:t>
            </a:r>
            <a:r>
              <a:rPr lang="en-US" sz="1700">
                <a:solidFill>
                  <a:srgbClr val="333333"/>
                </a:solidFill>
                <a:latin typeface="Poppins"/>
                <a:ea typeface="Poppins"/>
                <a:cs typeface="Poppins"/>
                <a:sym typeface="Poppins"/>
              </a:rPr>
              <a:t>s.</a:t>
            </a:r>
          </a:p>
          <a:p>
            <a:pPr algn="just">
              <a:lnSpc>
                <a:spcPts val="2550"/>
              </a:lnSpc>
            </a:pPr>
          </a:p>
        </p:txBody>
      </p:sp>
      <p:sp>
        <p:nvSpPr>
          <p:cNvPr name="Freeform 20" id="20"/>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sp>
        <p:nvSpPr>
          <p:cNvPr name="TextBox 5" id="5"/>
          <p:cNvSpPr txBox="true"/>
          <p:nvPr/>
        </p:nvSpPr>
        <p:spPr>
          <a:xfrm rot="0">
            <a:off x="16808249" y="754138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06</a:t>
            </a:r>
          </a:p>
        </p:txBody>
      </p:sp>
      <p:grpSp>
        <p:nvGrpSpPr>
          <p:cNvPr name="Group 6" id="6"/>
          <p:cNvGrpSpPr/>
          <p:nvPr/>
        </p:nvGrpSpPr>
        <p:grpSpPr>
          <a:xfrm rot="0">
            <a:off x="7535068" y="2654555"/>
            <a:ext cx="10143332" cy="5548359"/>
            <a:chOff x="0" y="0"/>
            <a:chExt cx="13524442" cy="7397812"/>
          </a:xfrm>
        </p:grpSpPr>
        <p:grpSp>
          <p:nvGrpSpPr>
            <p:cNvPr name="Group 7" id="7"/>
            <p:cNvGrpSpPr/>
            <p:nvPr/>
          </p:nvGrpSpPr>
          <p:grpSpPr>
            <a:xfrm rot="0">
              <a:off x="0" y="0"/>
              <a:ext cx="13524442" cy="7397812"/>
              <a:chOff x="0" y="0"/>
              <a:chExt cx="2885243" cy="1578216"/>
            </a:xfrm>
          </p:grpSpPr>
          <p:sp>
            <p:nvSpPr>
              <p:cNvPr name="Freeform 8" id="8"/>
              <p:cNvSpPr/>
              <p:nvPr/>
            </p:nvSpPr>
            <p:spPr>
              <a:xfrm flipH="false" flipV="false" rot="0">
                <a:off x="0" y="0"/>
                <a:ext cx="2885243" cy="1578216"/>
              </a:xfrm>
              <a:custGeom>
                <a:avLst/>
                <a:gdLst/>
                <a:ahLst/>
                <a:cxnLst/>
                <a:rect r="r" b="b" t="t" l="l"/>
                <a:pathLst>
                  <a:path h="1578216" w="2885243">
                    <a:moveTo>
                      <a:pt x="0" y="0"/>
                    </a:moveTo>
                    <a:lnTo>
                      <a:pt x="2885243" y="0"/>
                    </a:lnTo>
                    <a:lnTo>
                      <a:pt x="2885243" y="1578216"/>
                    </a:lnTo>
                    <a:lnTo>
                      <a:pt x="0" y="1578216"/>
                    </a:lnTo>
                    <a:close/>
                  </a:path>
                </a:pathLst>
              </a:custGeom>
              <a:solidFill>
                <a:srgbClr val="F5F5F5"/>
              </a:solidFill>
            </p:spPr>
          </p:sp>
          <p:sp>
            <p:nvSpPr>
              <p:cNvPr name="TextBox 9" id="9"/>
              <p:cNvSpPr txBox="true"/>
              <p:nvPr/>
            </p:nvSpPr>
            <p:spPr>
              <a:xfrm>
                <a:off x="0" y="-76200"/>
                <a:ext cx="2885243" cy="1654416"/>
              </a:xfrm>
              <a:prstGeom prst="rect">
                <a:avLst/>
              </a:prstGeom>
            </p:spPr>
            <p:txBody>
              <a:bodyPr anchor="ctr" rtlCol="false" tIns="50800" lIns="50800" bIns="50800" rIns="50800"/>
              <a:lstStyle/>
              <a:p>
                <a:pPr algn="ctr" marL="0" indent="0" lvl="0">
                  <a:lnSpc>
                    <a:spcPts val="3422"/>
                  </a:lnSpc>
                </a:pPr>
              </a:p>
            </p:txBody>
          </p:sp>
        </p:grpSp>
        <p:sp>
          <p:nvSpPr>
            <p:cNvPr name="Freeform 10" id="10"/>
            <p:cNvSpPr/>
            <p:nvPr/>
          </p:nvSpPr>
          <p:spPr>
            <a:xfrm flipH="false" flipV="false" rot="0">
              <a:off x="0" y="0"/>
              <a:ext cx="13524442" cy="7397812"/>
            </a:xfrm>
            <a:custGeom>
              <a:avLst/>
              <a:gdLst/>
              <a:ahLst/>
              <a:cxnLst/>
              <a:rect r="r" b="b" t="t" l="l"/>
              <a:pathLst>
                <a:path h="7397812" w="13524442">
                  <a:moveTo>
                    <a:pt x="0" y="0"/>
                  </a:moveTo>
                  <a:lnTo>
                    <a:pt x="13524442" y="0"/>
                  </a:lnTo>
                  <a:lnTo>
                    <a:pt x="13524442" y="7397812"/>
                  </a:lnTo>
                  <a:lnTo>
                    <a:pt x="0" y="7397812"/>
                  </a:lnTo>
                  <a:lnTo>
                    <a:pt x="0" y="0"/>
                  </a:lnTo>
                  <a:close/>
                </a:path>
              </a:pathLst>
            </a:custGeom>
            <a:blipFill>
              <a:blip r:embed="rId3"/>
              <a:stretch>
                <a:fillRect l="-240" t="0" r="-240" b="0"/>
              </a:stretch>
            </a:blipFill>
          </p:spPr>
        </p:sp>
      </p:grpSp>
      <p:grpSp>
        <p:nvGrpSpPr>
          <p:cNvPr name="Group 11" id="11"/>
          <p:cNvGrpSpPr/>
          <p:nvPr/>
        </p:nvGrpSpPr>
        <p:grpSpPr>
          <a:xfrm rot="0">
            <a:off x="620008" y="790575"/>
            <a:ext cx="7524750" cy="1496551"/>
            <a:chOff x="0" y="0"/>
            <a:chExt cx="10033000" cy="1995402"/>
          </a:xfrm>
        </p:grpSpPr>
        <p:sp>
          <p:nvSpPr>
            <p:cNvPr name="TextBox 12" id="12"/>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MisChauchas</a:t>
              </a:r>
            </a:p>
          </p:txBody>
        </p:sp>
        <p:sp>
          <p:nvSpPr>
            <p:cNvPr name="TextBox 13" id="13"/>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Arquitectura y r. técnicos</a:t>
              </a:r>
            </a:p>
          </p:txBody>
        </p:sp>
      </p:grpSp>
      <p:grpSp>
        <p:nvGrpSpPr>
          <p:cNvPr name="Group 14" id="14"/>
          <p:cNvGrpSpPr/>
          <p:nvPr/>
        </p:nvGrpSpPr>
        <p:grpSpPr>
          <a:xfrm rot="0">
            <a:off x="514350" y="2654555"/>
            <a:ext cx="6668921" cy="6539963"/>
            <a:chOff x="0" y="0"/>
            <a:chExt cx="1756424" cy="1722459"/>
          </a:xfrm>
        </p:grpSpPr>
        <p:sp>
          <p:nvSpPr>
            <p:cNvPr name="Freeform 15" id="15"/>
            <p:cNvSpPr/>
            <p:nvPr/>
          </p:nvSpPr>
          <p:spPr>
            <a:xfrm flipH="false" flipV="false" rot="0">
              <a:off x="0" y="0"/>
              <a:ext cx="1756424" cy="1722459"/>
            </a:xfrm>
            <a:custGeom>
              <a:avLst/>
              <a:gdLst/>
              <a:ahLst/>
              <a:cxnLst/>
              <a:rect r="r" b="b" t="t" l="l"/>
              <a:pathLst>
                <a:path h="1722459" w="1756424">
                  <a:moveTo>
                    <a:pt x="0" y="0"/>
                  </a:moveTo>
                  <a:lnTo>
                    <a:pt x="1756424" y="0"/>
                  </a:lnTo>
                  <a:lnTo>
                    <a:pt x="1756424" y="1722459"/>
                  </a:lnTo>
                  <a:lnTo>
                    <a:pt x="0" y="1722459"/>
                  </a:lnTo>
                  <a:close/>
                </a:path>
              </a:pathLst>
            </a:custGeom>
            <a:solidFill>
              <a:srgbClr val="F5F5F5"/>
            </a:solidFill>
          </p:spPr>
        </p:sp>
        <p:sp>
          <p:nvSpPr>
            <p:cNvPr name="TextBox 16" id="16"/>
            <p:cNvSpPr txBox="true"/>
            <p:nvPr/>
          </p:nvSpPr>
          <p:spPr>
            <a:xfrm>
              <a:off x="0" y="-76200"/>
              <a:ext cx="1756424" cy="1798659"/>
            </a:xfrm>
            <a:prstGeom prst="rect">
              <a:avLst/>
            </a:prstGeom>
          </p:spPr>
          <p:txBody>
            <a:bodyPr anchor="ctr" rtlCol="false" tIns="50800" lIns="50800" bIns="50800" rIns="50800"/>
            <a:lstStyle/>
            <a:p>
              <a:pPr algn="ctr" marL="0" indent="0" lvl="0">
                <a:lnSpc>
                  <a:spcPts val="3422"/>
                </a:lnSpc>
              </a:pPr>
            </a:p>
          </p:txBody>
        </p:sp>
      </p:grpSp>
      <p:sp>
        <p:nvSpPr>
          <p:cNvPr name="TextBox 17" id="17"/>
          <p:cNvSpPr txBox="true"/>
          <p:nvPr/>
        </p:nvSpPr>
        <p:spPr>
          <a:xfrm rot="0">
            <a:off x="731541" y="2966071"/>
            <a:ext cx="6199907" cy="5840730"/>
          </a:xfrm>
          <a:prstGeom prst="rect">
            <a:avLst/>
          </a:prstGeom>
        </p:spPr>
        <p:txBody>
          <a:bodyPr anchor="t" rtlCol="false" tIns="0" lIns="0" bIns="0" rIns="0">
            <a:spAutoFit/>
          </a:bodyPr>
          <a:lstStyle/>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Cliente (Web/App):</a:t>
            </a:r>
            <a:r>
              <a:rPr lang="en-US" sz="1700">
                <a:solidFill>
                  <a:srgbClr val="333333"/>
                </a:solidFill>
                <a:latin typeface="Poppins"/>
                <a:ea typeface="Poppins"/>
                <a:cs typeface="Poppins"/>
                <a:sym typeface="Poppins"/>
              </a:rPr>
              <a:t> Interf</a:t>
            </a:r>
            <a:r>
              <a:rPr lang="en-US" sz="1700">
                <a:solidFill>
                  <a:srgbClr val="333333"/>
                </a:solidFill>
                <a:latin typeface="Poppins"/>
                <a:ea typeface="Poppins"/>
                <a:cs typeface="Poppins"/>
                <a:sym typeface="Poppins"/>
              </a:rPr>
              <a:t>a</a:t>
            </a:r>
            <a:r>
              <a:rPr lang="en-US" sz="1700">
                <a:solidFill>
                  <a:srgbClr val="333333"/>
                </a:solidFill>
                <a:latin typeface="Poppins"/>
                <a:ea typeface="Poppins"/>
                <a:cs typeface="Poppins"/>
                <a:sym typeface="Poppins"/>
              </a:rPr>
              <a:t>z</a:t>
            </a:r>
            <a:r>
              <a:rPr lang="en-US" sz="1700">
                <a:solidFill>
                  <a:srgbClr val="333333"/>
                </a:solidFill>
                <a:latin typeface="Poppins"/>
                <a:ea typeface="Poppins"/>
                <a:cs typeface="Poppins"/>
                <a:sym typeface="Poppins"/>
              </a:rPr>
              <a:t> de </a:t>
            </a:r>
            <a:r>
              <a:rPr lang="en-US" sz="1700">
                <a:solidFill>
                  <a:srgbClr val="333333"/>
                </a:solidFill>
                <a:latin typeface="Poppins"/>
                <a:ea typeface="Poppins"/>
                <a:cs typeface="Poppins"/>
                <a:sym typeface="Poppins"/>
              </a:rPr>
              <a:t>usu</a:t>
            </a:r>
            <a:r>
              <a:rPr lang="en-US" sz="1700">
                <a:solidFill>
                  <a:srgbClr val="333333"/>
                </a:solidFill>
                <a:latin typeface="Poppins"/>
                <a:ea typeface="Poppins"/>
                <a:cs typeface="Poppins"/>
                <a:sym typeface="Poppins"/>
              </a:rPr>
              <a:t>a</a:t>
            </a:r>
            <a:r>
              <a:rPr lang="en-US" sz="1700">
                <a:solidFill>
                  <a:srgbClr val="333333"/>
                </a:solidFill>
                <a:latin typeface="Poppins"/>
                <a:ea typeface="Poppins"/>
                <a:cs typeface="Poppins"/>
                <a:sym typeface="Poppins"/>
              </a:rPr>
              <a:t>ri</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 que consume los servicios a través de un punto de entrada único.</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API Gateway:</a:t>
            </a:r>
            <a:r>
              <a:rPr lang="en-US" sz="1700">
                <a:solidFill>
                  <a:srgbClr val="333333"/>
                </a:solidFill>
                <a:latin typeface="Poppins"/>
                <a:ea typeface="Poppins"/>
                <a:cs typeface="Poppins"/>
                <a:sym typeface="Poppins"/>
              </a:rPr>
              <a:t> Punto central de acceso que enruta las solicitudes hacia los microservicios correspondientes.</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Microservicios:</a:t>
            </a:r>
          </a:p>
          <a:p>
            <a:pPr algn="l" marL="367031" indent="-183515" lvl="1">
              <a:lnSpc>
                <a:spcPts val="2550"/>
              </a:lnSpc>
              <a:buAutoNum type="arabicPeriod" startAt="1"/>
            </a:pPr>
            <a:r>
              <a:rPr lang="en-US" sz="1700" i="true">
                <a:solidFill>
                  <a:srgbClr val="333333"/>
                </a:solidFill>
                <a:latin typeface="Poppins Italics"/>
                <a:ea typeface="Poppins Italics"/>
                <a:cs typeface="Poppins Italics"/>
                <a:sym typeface="Poppins Italics"/>
              </a:rPr>
              <a:t> </a:t>
            </a:r>
            <a:r>
              <a:rPr lang="en-US" sz="1700" i="true">
                <a:solidFill>
                  <a:srgbClr val="333333"/>
                </a:solidFill>
                <a:latin typeface="Poppins Italics"/>
                <a:ea typeface="Poppins Italics"/>
                <a:cs typeface="Poppins Italics"/>
                <a:sym typeface="Poppins Italics"/>
              </a:rPr>
              <a:t> Auth: Gest</a:t>
            </a:r>
            <a:r>
              <a:rPr lang="en-US" sz="1700" i="true">
                <a:solidFill>
                  <a:srgbClr val="333333"/>
                </a:solidFill>
                <a:latin typeface="Poppins Italics"/>
                <a:ea typeface="Poppins Italics"/>
                <a:cs typeface="Poppins Italics"/>
                <a:sym typeface="Poppins Italics"/>
              </a:rPr>
              <a:t>i</a:t>
            </a:r>
            <a:r>
              <a:rPr lang="en-US" sz="1700" i="true">
                <a:solidFill>
                  <a:srgbClr val="333333"/>
                </a:solidFill>
                <a:latin typeface="Poppins Italics"/>
                <a:ea typeface="Poppins Italics"/>
                <a:cs typeface="Poppins Italics"/>
                <a:sym typeface="Poppins Italics"/>
              </a:rPr>
              <a:t>ó</a:t>
            </a:r>
            <a:r>
              <a:rPr lang="en-US" sz="1700" i="true">
                <a:solidFill>
                  <a:srgbClr val="333333"/>
                </a:solidFill>
                <a:latin typeface="Poppins Italics"/>
                <a:ea typeface="Poppins Italics"/>
                <a:cs typeface="Poppins Italics"/>
                <a:sym typeface="Poppins Italics"/>
              </a:rPr>
              <a:t>n</a:t>
            </a:r>
            <a:r>
              <a:rPr lang="en-US" sz="1700" i="true">
                <a:solidFill>
                  <a:srgbClr val="333333"/>
                </a:solidFill>
                <a:latin typeface="Poppins Italics"/>
                <a:ea typeface="Poppins Italics"/>
                <a:cs typeface="Poppins Italics"/>
                <a:sym typeface="Poppins Italics"/>
              </a:rPr>
              <a:t> d</a:t>
            </a:r>
            <a:r>
              <a:rPr lang="en-US" sz="1700" i="true">
                <a:solidFill>
                  <a:srgbClr val="333333"/>
                </a:solidFill>
                <a:latin typeface="Poppins Italics"/>
                <a:ea typeface="Poppins Italics"/>
                <a:cs typeface="Poppins Italics"/>
                <a:sym typeface="Poppins Italics"/>
              </a:rPr>
              <a:t>e</a:t>
            </a:r>
            <a:r>
              <a:rPr lang="en-US" sz="1700" i="true">
                <a:solidFill>
                  <a:srgbClr val="333333"/>
                </a:solidFill>
                <a:latin typeface="Poppins Italics"/>
                <a:ea typeface="Poppins Italics"/>
                <a:cs typeface="Poppins Italics"/>
                <a:sym typeface="Poppins Italics"/>
              </a:rPr>
              <a:t> u</a:t>
            </a:r>
            <a:r>
              <a:rPr lang="en-US" sz="1700" i="true">
                <a:solidFill>
                  <a:srgbClr val="333333"/>
                </a:solidFill>
                <a:latin typeface="Poppins Italics"/>
                <a:ea typeface="Poppins Italics"/>
                <a:cs typeface="Poppins Italics"/>
                <a:sym typeface="Poppins Italics"/>
              </a:rPr>
              <a:t>s</a:t>
            </a:r>
            <a:r>
              <a:rPr lang="en-US" sz="1700" i="true">
                <a:solidFill>
                  <a:srgbClr val="333333"/>
                </a:solidFill>
                <a:latin typeface="Poppins Italics"/>
                <a:ea typeface="Poppins Italics"/>
                <a:cs typeface="Poppins Italics"/>
                <a:sym typeface="Poppins Italics"/>
              </a:rPr>
              <a:t>uarios y autenticación mediante JWT.</a:t>
            </a:r>
          </a:p>
          <a:p>
            <a:pPr algn="l" marL="367031" indent="-183515" lvl="1">
              <a:lnSpc>
                <a:spcPts val="2550"/>
              </a:lnSpc>
              <a:buAutoNum type="arabicPeriod" startAt="1"/>
            </a:pPr>
            <a:r>
              <a:rPr lang="en-US" sz="1700" i="true">
                <a:solidFill>
                  <a:srgbClr val="333333"/>
                </a:solidFill>
                <a:latin typeface="Poppins Italics"/>
                <a:ea typeface="Poppins Italics"/>
                <a:cs typeface="Poppins Italics"/>
                <a:sym typeface="Poppins Italics"/>
              </a:rPr>
              <a:t>  Transacciones: Registro y categorización de ingresos y gastos.</a:t>
            </a:r>
          </a:p>
          <a:p>
            <a:pPr algn="l" marL="367031" indent="-183515" lvl="1">
              <a:lnSpc>
                <a:spcPts val="2550"/>
              </a:lnSpc>
              <a:buAutoNum type="arabicPeriod" startAt="1"/>
            </a:pPr>
            <a:r>
              <a:rPr lang="en-US" sz="1700" i="true">
                <a:solidFill>
                  <a:srgbClr val="333333"/>
                </a:solidFill>
                <a:latin typeface="Poppins Italics"/>
                <a:ea typeface="Poppins Italics"/>
                <a:cs typeface="Poppins Italics"/>
                <a:sym typeface="Poppins Italics"/>
              </a:rPr>
              <a:t>  Presupuestos: Definición de metas y límites </a:t>
            </a:r>
            <a:r>
              <a:rPr lang="en-US" sz="1700" i="true">
                <a:solidFill>
                  <a:srgbClr val="333333"/>
                </a:solidFill>
                <a:latin typeface="Poppins Italics"/>
                <a:ea typeface="Poppins Italics"/>
                <a:cs typeface="Poppins Italics"/>
                <a:sym typeface="Poppins Italics"/>
              </a:rPr>
              <a:t>men</a:t>
            </a:r>
            <a:r>
              <a:rPr lang="en-US" sz="1700" i="true">
                <a:solidFill>
                  <a:srgbClr val="333333"/>
                </a:solidFill>
                <a:latin typeface="Poppins Italics"/>
                <a:ea typeface="Poppins Italics"/>
                <a:cs typeface="Poppins Italics"/>
                <a:sym typeface="Poppins Italics"/>
              </a:rPr>
              <a:t>su</a:t>
            </a:r>
            <a:r>
              <a:rPr lang="en-US" sz="1700" i="true">
                <a:solidFill>
                  <a:srgbClr val="333333"/>
                </a:solidFill>
                <a:latin typeface="Poppins Italics"/>
                <a:ea typeface="Poppins Italics"/>
                <a:cs typeface="Poppins Italics"/>
                <a:sym typeface="Poppins Italics"/>
              </a:rPr>
              <a:t>a</a:t>
            </a:r>
            <a:r>
              <a:rPr lang="en-US" sz="1700" i="true">
                <a:solidFill>
                  <a:srgbClr val="333333"/>
                </a:solidFill>
                <a:latin typeface="Poppins Italics"/>
                <a:ea typeface="Poppins Italics"/>
                <a:cs typeface="Poppins Italics"/>
                <a:sym typeface="Poppins Italics"/>
              </a:rPr>
              <a:t>l</a:t>
            </a:r>
            <a:r>
              <a:rPr lang="en-US" sz="1700" i="true">
                <a:solidFill>
                  <a:srgbClr val="333333"/>
                </a:solidFill>
                <a:latin typeface="Poppins Italics"/>
                <a:ea typeface="Poppins Italics"/>
                <a:cs typeface="Poppins Italics"/>
                <a:sym typeface="Poppins Italics"/>
              </a:rPr>
              <a:t>e</a:t>
            </a:r>
            <a:r>
              <a:rPr lang="en-US" sz="1700" i="true">
                <a:solidFill>
                  <a:srgbClr val="333333"/>
                </a:solidFill>
                <a:latin typeface="Poppins Italics"/>
                <a:ea typeface="Poppins Italics"/>
                <a:cs typeface="Poppins Italics"/>
                <a:sym typeface="Poppins Italics"/>
              </a:rPr>
              <a:t>s p</a:t>
            </a:r>
            <a:r>
              <a:rPr lang="en-US" sz="1700" i="true">
                <a:solidFill>
                  <a:srgbClr val="333333"/>
                </a:solidFill>
                <a:latin typeface="Poppins Italics"/>
                <a:ea typeface="Poppins Italics"/>
                <a:cs typeface="Poppins Italics"/>
                <a:sym typeface="Poppins Italics"/>
              </a:rPr>
              <a:t>o</a:t>
            </a:r>
            <a:r>
              <a:rPr lang="en-US" sz="1700" i="true">
                <a:solidFill>
                  <a:srgbClr val="333333"/>
                </a:solidFill>
                <a:latin typeface="Poppins Italics"/>
                <a:ea typeface="Poppins Italics"/>
                <a:cs typeface="Poppins Italics"/>
                <a:sym typeface="Poppins Italics"/>
              </a:rPr>
              <a:t>r</a:t>
            </a:r>
            <a:r>
              <a:rPr lang="en-US" sz="1700" i="true">
                <a:solidFill>
                  <a:srgbClr val="333333"/>
                </a:solidFill>
                <a:latin typeface="Poppins Italics"/>
                <a:ea typeface="Poppins Italics"/>
                <a:cs typeface="Poppins Italics"/>
                <a:sym typeface="Poppins Italics"/>
              </a:rPr>
              <a:t> </a:t>
            </a:r>
            <a:r>
              <a:rPr lang="en-US" sz="1700" i="true">
                <a:solidFill>
                  <a:srgbClr val="333333"/>
                </a:solidFill>
                <a:latin typeface="Poppins Italics"/>
                <a:ea typeface="Poppins Italics"/>
                <a:cs typeface="Poppins Italics"/>
                <a:sym typeface="Poppins Italics"/>
              </a:rPr>
              <a:t>ca</a:t>
            </a:r>
            <a:r>
              <a:rPr lang="en-US" sz="1700" i="true">
                <a:solidFill>
                  <a:srgbClr val="333333"/>
                </a:solidFill>
                <a:latin typeface="Poppins Italics"/>
                <a:ea typeface="Poppins Italics"/>
                <a:cs typeface="Poppins Italics"/>
                <a:sym typeface="Poppins Italics"/>
              </a:rPr>
              <a:t>te</a:t>
            </a:r>
            <a:r>
              <a:rPr lang="en-US" sz="1700" i="true">
                <a:solidFill>
                  <a:srgbClr val="333333"/>
                </a:solidFill>
                <a:latin typeface="Poppins Italics"/>
                <a:ea typeface="Poppins Italics"/>
                <a:cs typeface="Poppins Italics"/>
                <a:sym typeface="Poppins Italics"/>
              </a:rPr>
              <a:t>gorí</a:t>
            </a:r>
            <a:r>
              <a:rPr lang="en-US" sz="1700" i="true">
                <a:solidFill>
                  <a:srgbClr val="333333"/>
                </a:solidFill>
                <a:latin typeface="Poppins Italics"/>
                <a:ea typeface="Poppins Italics"/>
                <a:cs typeface="Poppins Italics"/>
                <a:sym typeface="Poppins Italics"/>
              </a:rPr>
              <a:t>a</a:t>
            </a:r>
            <a:r>
              <a:rPr lang="en-US" sz="1700" i="true">
                <a:solidFill>
                  <a:srgbClr val="333333"/>
                </a:solidFill>
                <a:latin typeface="Poppins Italics"/>
                <a:ea typeface="Poppins Italics"/>
                <a:cs typeface="Poppins Italics"/>
                <a:sym typeface="Poppins Italics"/>
              </a:rPr>
              <a:t>.</a:t>
            </a:r>
          </a:p>
          <a:p>
            <a:pPr algn="l" marL="367031" indent="-183515" lvl="1">
              <a:lnSpc>
                <a:spcPts val="2550"/>
              </a:lnSpc>
              <a:buAutoNum type="arabicPeriod" startAt="1"/>
            </a:pPr>
            <a:r>
              <a:rPr lang="en-US" sz="1700" i="true">
                <a:solidFill>
                  <a:srgbClr val="333333"/>
                </a:solidFill>
                <a:latin typeface="Poppins Italics"/>
                <a:ea typeface="Poppins Italics"/>
                <a:cs typeface="Poppins Italics"/>
                <a:sym typeface="Poppins Italics"/>
              </a:rPr>
              <a:t>  Notificaciones: Envío de alertas y avisos al usuario.</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Persistencia:</a:t>
            </a:r>
            <a:r>
              <a:rPr lang="en-US" sz="1700">
                <a:solidFill>
                  <a:srgbClr val="333333"/>
                </a:solidFill>
                <a:latin typeface="Poppins"/>
                <a:ea typeface="Poppins"/>
                <a:cs typeface="Poppins"/>
                <a:sym typeface="Poppins"/>
              </a:rPr>
              <a:t> Cada servicio posee su propia base de datos PostgreSQL (BD auth, BD transacc., BD presup.), garantizando independencia y escalabilidad.</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API externa:</a:t>
            </a:r>
            <a:r>
              <a:rPr lang="en-US" sz="1700">
                <a:solidFill>
                  <a:srgbClr val="333333"/>
                </a:solidFill>
                <a:latin typeface="Poppins"/>
                <a:ea typeface="Poppins"/>
                <a:cs typeface="Poppins"/>
                <a:sym typeface="Poppins"/>
              </a:rPr>
              <a:t> Integración con servicios de email y notificaciones push para la comunicación con el usuario.</a:t>
            </a:r>
          </a:p>
        </p:txBody>
      </p:sp>
      <p:grpSp>
        <p:nvGrpSpPr>
          <p:cNvPr name="Group 18" id="18"/>
          <p:cNvGrpSpPr/>
          <p:nvPr/>
        </p:nvGrpSpPr>
        <p:grpSpPr>
          <a:xfrm rot="0">
            <a:off x="514350" y="8743950"/>
            <a:ext cx="1028700" cy="10287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20" id="20"/>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21" id="21"/>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06</a:t>
            </a:r>
          </a:p>
        </p:txBody>
      </p:sp>
      <p:sp>
        <p:nvSpPr>
          <p:cNvPr name="Freeform 22" id="22"/>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sp>
        <p:nvSpPr>
          <p:cNvPr name="TextBox 5" id="5"/>
          <p:cNvSpPr txBox="true"/>
          <p:nvPr/>
        </p:nvSpPr>
        <p:spPr>
          <a:xfrm rot="0">
            <a:off x="16808249" y="7560437"/>
            <a:ext cx="686692" cy="167059"/>
          </a:xfrm>
          <a:prstGeom prst="rect">
            <a:avLst/>
          </a:prstGeom>
        </p:spPr>
        <p:txBody>
          <a:bodyPr anchor="t" rtlCol="false" tIns="0" lIns="0" bIns="0" rIns="0">
            <a:spAutoFit/>
          </a:bodyPr>
          <a:lstStyle/>
          <a:p>
            <a:pPr algn="ctr" marL="0" indent="0" lvl="0">
              <a:lnSpc>
                <a:spcPts val="1327"/>
              </a:lnSpc>
            </a:pPr>
            <a:r>
              <a:rPr lang="en-US" b="true" sz="1327">
                <a:solidFill>
                  <a:srgbClr val="F5F5F5"/>
                </a:solidFill>
                <a:latin typeface="DM Sans Bold"/>
                <a:ea typeface="DM Sans Bold"/>
                <a:cs typeface="DM Sans Bold"/>
                <a:sym typeface="DM Sans Bold"/>
              </a:rPr>
              <a:t>07</a:t>
            </a:r>
          </a:p>
        </p:txBody>
      </p:sp>
      <p:sp>
        <p:nvSpPr>
          <p:cNvPr name="Freeform 6" id="6"/>
          <p:cNvSpPr/>
          <p:nvPr/>
        </p:nvSpPr>
        <p:spPr>
          <a:xfrm flipH="false" flipV="false" rot="0">
            <a:off x="8129821" y="2271500"/>
            <a:ext cx="9588958" cy="5608396"/>
          </a:xfrm>
          <a:custGeom>
            <a:avLst/>
            <a:gdLst/>
            <a:ahLst/>
            <a:cxnLst/>
            <a:rect r="r" b="b" t="t" l="l"/>
            <a:pathLst>
              <a:path h="5608396" w="9588958">
                <a:moveTo>
                  <a:pt x="0" y="0"/>
                </a:moveTo>
                <a:lnTo>
                  <a:pt x="9588959" y="0"/>
                </a:lnTo>
                <a:lnTo>
                  <a:pt x="9588959" y="5608396"/>
                </a:lnTo>
                <a:lnTo>
                  <a:pt x="0" y="5608396"/>
                </a:lnTo>
                <a:lnTo>
                  <a:pt x="0" y="0"/>
                </a:lnTo>
                <a:close/>
              </a:path>
            </a:pathLst>
          </a:custGeom>
          <a:blipFill>
            <a:blip r:embed="rId3"/>
            <a:stretch>
              <a:fillRect l="0" t="0" r="0" b="0"/>
            </a:stretch>
          </a:blipFill>
        </p:spPr>
      </p:sp>
      <p:grpSp>
        <p:nvGrpSpPr>
          <p:cNvPr name="Group 7" id="7"/>
          <p:cNvGrpSpPr/>
          <p:nvPr/>
        </p:nvGrpSpPr>
        <p:grpSpPr>
          <a:xfrm rot="0">
            <a:off x="620008" y="790575"/>
            <a:ext cx="7524750" cy="1496551"/>
            <a:chOff x="0" y="0"/>
            <a:chExt cx="10033000" cy="1995402"/>
          </a:xfrm>
        </p:grpSpPr>
        <p:sp>
          <p:nvSpPr>
            <p:cNvPr name="TextBox 8" id="8"/>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MisChauchas</a:t>
              </a:r>
            </a:p>
          </p:txBody>
        </p:sp>
        <p:sp>
          <p:nvSpPr>
            <p:cNvPr name="TextBox 9" id="9"/>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Modelo de datos</a:t>
              </a:r>
            </a:p>
          </p:txBody>
        </p:sp>
      </p:grpSp>
      <p:grpSp>
        <p:nvGrpSpPr>
          <p:cNvPr name="Group 10" id="10"/>
          <p:cNvGrpSpPr/>
          <p:nvPr/>
        </p:nvGrpSpPr>
        <p:grpSpPr>
          <a:xfrm rot="0">
            <a:off x="514350" y="2654555"/>
            <a:ext cx="7377574" cy="6539963"/>
            <a:chOff x="0" y="0"/>
            <a:chExt cx="1943065" cy="1722459"/>
          </a:xfrm>
        </p:grpSpPr>
        <p:sp>
          <p:nvSpPr>
            <p:cNvPr name="Freeform 11" id="11"/>
            <p:cNvSpPr/>
            <p:nvPr/>
          </p:nvSpPr>
          <p:spPr>
            <a:xfrm flipH="false" flipV="false" rot="0">
              <a:off x="0" y="0"/>
              <a:ext cx="1943065" cy="1722459"/>
            </a:xfrm>
            <a:custGeom>
              <a:avLst/>
              <a:gdLst/>
              <a:ahLst/>
              <a:cxnLst/>
              <a:rect r="r" b="b" t="t" l="l"/>
              <a:pathLst>
                <a:path h="1722459" w="1943065">
                  <a:moveTo>
                    <a:pt x="0" y="0"/>
                  </a:moveTo>
                  <a:lnTo>
                    <a:pt x="1943065" y="0"/>
                  </a:lnTo>
                  <a:lnTo>
                    <a:pt x="1943065" y="1722459"/>
                  </a:lnTo>
                  <a:lnTo>
                    <a:pt x="0" y="1722459"/>
                  </a:lnTo>
                  <a:close/>
                </a:path>
              </a:pathLst>
            </a:custGeom>
            <a:solidFill>
              <a:srgbClr val="F5F5F5"/>
            </a:solidFill>
          </p:spPr>
        </p:sp>
        <p:sp>
          <p:nvSpPr>
            <p:cNvPr name="TextBox 12" id="12"/>
            <p:cNvSpPr txBox="true"/>
            <p:nvPr/>
          </p:nvSpPr>
          <p:spPr>
            <a:xfrm>
              <a:off x="0" y="-76200"/>
              <a:ext cx="1943065" cy="1798659"/>
            </a:xfrm>
            <a:prstGeom prst="rect">
              <a:avLst/>
            </a:prstGeom>
          </p:spPr>
          <p:txBody>
            <a:bodyPr anchor="ctr" rtlCol="false" tIns="50800" lIns="50800" bIns="50800" rIns="50800"/>
            <a:lstStyle/>
            <a:p>
              <a:pPr algn="ctr" marL="0" indent="0" lvl="0">
                <a:lnSpc>
                  <a:spcPts val="3422"/>
                </a:lnSpc>
              </a:pPr>
            </a:p>
          </p:txBody>
        </p:sp>
      </p:grpSp>
      <p:grpSp>
        <p:nvGrpSpPr>
          <p:cNvPr name="Group 13" id="13"/>
          <p:cNvGrpSpPr/>
          <p:nvPr/>
        </p:nvGrpSpPr>
        <p:grpSpPr>
          <a:xfrm rot="0">
            <a:off x="514350" y="8743950"/>
            <a:ext cx="1028700" cy="102870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5" id="15"/>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6" id="16"/>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07</a:t>
            </a:r>
          </a:p>
        </p:txBody>
      </p:sp>
      <p:sp>
        <p:nvSpPr>
          <p:cNvPr name="TextBox 17" id="17"/>
          <p:cNvSpPr txBox="true"/>
          <p:nvPr/>
        </p:nvSpPr>
        <p:spPr>
          <a:xfrm rot="0">
            <a:off x="662185" y="2789229"/>
            <a:ext cx="7000561" cy="5840730"/>
          </a:xfrm>
          <a:prstGeom prst="rect">
            <a:avLst/>
          </a:prstGeom>
        </p:spPr>
        <p:txBody>
          <a:bodyPr anchor="t" rtlCol="false" tIns="0" lIns="0" bIns="0" rIns="0">
            <a:spAutoFit/>
          </a:bodyPr>
          <a:lstStyle/>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Autenticación (Servicio Auth):</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USUARIOS: id (uuid, PK), email (string), password_hash (string), creado_en (timestamp). Gestiona credenciales y sesiones.</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Transacciones (Servicio Transacciones):</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CATEGORÍAS: id (uuid, PK), nombre (string), tipo (string). Clasifica ingresos y gastos.</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TRANSACCIONES: id (uuid, PK), usuario_id (FK), categoria_id (FK), monto (decimal), tipo (string), fecha (date), descripcion (string). Registra cada movimiento financiero.</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Presupuestos (Servicio Presupuestos):</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PRESUPUESTOS: </a:t>
            </a:r>
            <a:r>
              <a:rPr lang="en-US" sz="1700">
                <a:solidFill>
                  <a:srgbClr val="333333"/>
                </a:solidFill>
                <a:latin typeface="Poppins"/>
                <a:ea typeface="Poppins"/>
                <a:cs typeface="Poppins"/>
                <a:sym typeface="Poppins"/>
              </a:rPr>
              <a:t>id</a:t>
            </a:r>
            <a:r>
              <a:rPr lang="en-US" sz="1700">
                <a:solidFill>
                  <a:srgbClr val="333333"/>
                </a:solidFill>
                <a:latin typeface="Poppins"/>
                <a:ea typeface="Poppins"/>
                <a:cs typeface="Poppins"/>
                <a:sym typeface="Poppins"/>
              </a:rPr>
              <a:t> (uu</a:t>
            </a:r>
            <a:r>
              <a:rPr lang="en-US" sz="1700">
                <a:solidFill>
                  <a:srgbClr val="333333"/>
                </a:solidFill>
                <a:latin typeface="Poppins"/>
                <a:ea typeface="Poppins"/>
                <a:cs typeface="Poppins"/>
                <a:sym typeface="Poppins"/>
              </a:rPr>
              <a:t>i</a:t>
            </a:r>
            <a:r>
              <a:rPr lang="en-US" sz="1700">
                <a:solidFill>
                  <a:srgbClr val="333333"/>
                </a:solidFill>
                <a:latin typeface="Poppins"/>
                <a:ea typeface="Poppins"/>
                <a:cs typeface="Poppins"/>
                <a:sym typeface="Poppins"/>
              </a:rPr>
              <a:t>d, PK), usuario_id (FK), categoria_id (FK), limite_mensual (decimal), mes (string). Define metas de gasto por categoría.</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Notificaciones (Servicio Notificaciones):</a:t>
            </a:r>
          </a:p>
          <a:p>
            <a:pPr algn="l" marL="367031" indent="-183515" lvl="1">
              <a:lnSpc>
                <a:spcPts val="2550"/>
              </a:lnSpc>
              <a:buAutoNum type="arabicPeriod" startAt="1"/>
            </a:pPr>
            <a:r>
              <a:rPr lang="en-US" b="true" sz="1700">
                <a:solidFill>
                  <a:srgbClr val="333333"/>
                </a:solidFill>
                <a:latin typeface="Poppins Bold"/>
                <a:ea typeface="Poppins Bold"/>
                <a:cs typeface="Poppins Bold"/>
                <a:sym typeface="Poppins Bold"/>
              </a:rPr>
              <a:t> </a:t>
            </a:r>
            <a:r>
              <a:rPr lang="en-US" sz="1700">
                <a:solidFill>
                  <a:srgbClr val="333333"/>
                </a:solidFill>
                <a:latin typeface="Poppins"/>
                <a:ea typeface="Poppins"/>
                <a:cs typeface="Poppins"/>
                <a:sym typeface="Poppins"/>
              </a:rPr>
              <a:t> NOTIFICACIONES: id (uuid, PK), usuario_id (FK), tipo (string), mensaje (string), enviada (boolean), creado_en (timestamp). Gestiona alertas al usuario.</a:t>
            </a:r>
          </a:p>
        </p:txBody>
      </p:sp>
      <p:grpSp>
        <p:nvGrpSpPr>
          <p:cNvPr name="Group 18" id="18"/>
          <p:cNvGrpSpPr/>
          <p:nvPr/>
        </p:nvGrpSpPr>
        <p:grpSpPr>
          <a:xfrm rot="5400000">
            <a:off x="12361628" y="3901148"/>
            <a:ext cx="1125345" cy="9588958"/>
            <a:chOff x="0" y="0"/>
            <a:chExt cx="296387" cy="2525487"/>
          </a:xfrm>
        </p:grpSpPr>
        <p:sp>
          <p:nvSpPr>
            <p:cNvPr name="Freeform 19" id="19"/>
            <p:cNvSpPr/>
            <p:nvPr/>
          </p:nvSpPr>
          <p:spPr>
            <a:xfrm flipH="false" flipV="false" rot="0">
              <a:off x="0" y="0"/>
              <a:ext cx="296387" cy="2525487"/>
            </a:xfrm>
            <a:custGeom>
              <a:avLst/>
              <a:gdLst/>
              <a:ahLst/>
              <a:cxnLst/>
              <a:rect r="r" b="b" t="t" l="l"/>
              <a:pathLst>
                <a:path h="2525487" w="296387">
                  <a:moveTo>
                    <a:pt x="0" y="0"/>
                  </a:moveTo>
                  <a:lnTo>
                    <a:pt x="296387" y="0"/>
                  </a:lnTo>
                  <a:lnTo>
                    <a:pt x="296387" y="2525487"/>
                  </a:lnTo>
                  <a:lnTo>
                    <a:pt x="0" y="2525487"/>
                  </a:lnTo>
                  <a:close/>
                </a:path>
              </a:pathLst>
            </a:custGeom>
            <a:solidFill>
              <a:srgbClr val="F5F5F5"/>
            </a:solidFill>
          </p:spPr>
        </p:sp>
        <p:sp>
          <p:nvSpPr>
            <p:cNvPr name="TextBox 20" id="20"/>
            <p:cNvSpPr txBox="true"/>
            <p:nvPr/>
          </p:nvSpPr>
          <p:spPr>
            <a:xfrm>
              <a:off x="0" y="-76200"/>
              <a:ext cx="296387" cy="2601687"/>
            </a:xfrm>
            <a:prstGeom prst="rect">
              <a:avLst/>
            </a:prstGeom>
          </p:spPr>
          <p:txBody>
            <a:bodyPr anchor="ctr" rtlCol="false" tIns="50800" lIns="50800" bIns="50800" rIns="50800"/>
            <a:lstStyle/>
            <a:p>
              <a:pPr algn="ctr" marL="0" indent="0" lvl="0">
                <a:lnSpc>
                  <a:spcPts val="3422"/>
                </a:lnSpc>
              </a:pPr>
            </a:p>
          </p:txBody>
        </p:sp>
      </p:grpSp>
      <p:sp>
        <p:nvSpPr>
          <p:cNvPr name="TextBox 21" id="21"/>
          <p:cNvSpPr txBox="true"/>
          <p:nvPr/>
        </p:nvSpPr>
        <p:spPr>
          <a:xfrm rot="0">
            <a:off x="8361464" y="8218680"/>
            <a:ext cx="9144862" cy="982980"/>
          </a:xfrm>
          <a:prstGeom prst="rect">
            <a:avLst/>
          </a:prstGeom>
        </p:spPr>
        <p:txBody>
          <a:bodyPr anchor="t" rtlCol="false" tIns="0" lIns="0" bIns="0" rIns="0">
            <a:spAutoFit/>
          </a:bodyPr>
          <a:lstStyle/>
          <a:p>
            <a:pPr algn="just">
              <a:lnSpc>
                <a:spcPts val="2550"/>
              </a:lnSpc>
            </a:pPr>
            <a:r>
              <a:rPr lang="en-US" sz="1700">
                <a:solidFill>
                  <a:srgbClr val="333333"/>
                </a:solidFill>
                <a:latin typeface="Poppins"/>
                <a:ea typeface="Poppins"/>
                <a:cs typeface="Poppins"/>
                <a:sym typeface="Poppins"/>
              </a:rPr>
              <a:t>Cada servicio accede únicamente a su propia base de datos. La comunicación entre servicios se realiza me</a:t>
            </a:r>
            <a:r>
              <a:rPr lang="en-US" sz="1700">
                <a:solidFill>
                  <a:srgbClr val="333333"/>
                </a:solidFill>
                <a:latin typeface="Poppins"/>
                <a:ea typeface="Poppins"/>
                <a:cs typeface="Poppins"/>
                <a:sym typeface="Poppins"/>
              </a:rPr>
              <a:t>d</a:t>
            </a:r>
            <a:r>
              <a:rPr lang="en-US" sz="1700">
                <a:solidFill>
                  <a:srgbClr val="333333"/>
                </a:solidFill>
                <a:latin typeface="Poppins"/>
                <a:ea typeface="Poppins"/>
                <a:cs typeface="Poppins"/>
                <a:sym typeface="Poppins"/>
              </a:rPr>
              <a:t>iant</a:t>
            </a:r>
            <a:r>
              <a:rPr lang="en-US" sz="1700">
                <a:solidFill>
                  <a:srgbClr val="333333"/>
                </a:solidFill>
                <a:latin typeface="Poppins"/>
                <a:ea typeface="Poppins"/>
                <a:cs typeface="Poppins"/>
                <a:sym typeface="Poppins"/>
              </a:rPr>
              <a:t>e e</a:t>
            </a:r>
            <a:r>
              <a:rPr lang="en-US" sz="1700">
                <a:solidFill>
                  <a:srgbClr val="333333"/>
                </a:solidFill>
                <a:latin typeface="Poppins"/>
                <a:ea typeface="Poppins"/>
                <a:cs typeface="Poppins"/>
                <a:sym typeface="Poppins"/>
              </a:rPr>
              <a:t>l</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API G</a:t>
            </a:r>
            <a:r>
              <a:rPr lang="en-US" sz="1700">
                <a:solidFill>
                  <a:srgbClr val="333333"/>
                </a:solidFill>
                <a:latin typeface="Poppins"/>
                <a:ea typeface="Poppins"/>
                <a:cs typeface="Poppins"/>
                <a:sym typeface="Poppins"/>
              </a:rPr>
              <a:t>a</a:t>
            </a:r>
            <a:r>
              <a:rPr lang="en-US" sz="1700">
                <a:solidFill>
                  <a:srgbClr val="333333"/>
                </a:solidFill>
                <a:latin typeface="Poppins"/>
                <a:ea typeface="Poppins"/>
                <a:cs typeface="Poppins"/>
                <a:sym typeface="Poppins"/>
              </a:rPr>
              <a:t>t</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way,</a:t>
            </a:r>
            <a:r>
              <a:rPr lang="en-US" sz="1700">
                <a:solidFill>
                  <a:srgbClr val="333333"/>
                </a:solidFill>
                <a:latin typeface="Poppins"/>
                <a:ea typeface="Poppins"/>
                <a:cs typeface="Poppins"/>
                <a:sym typeface="Poppins"/>
              </a:rPr>
              <a:t> m</a:t>
            </a:r>
            <a:r>
              <a:rPr lang="en-US" sz="1700">
                <a:solidFill>
                  <a:srgbClr val="333333"/>
                </a:solidFill>
                <a:latin typeface="Poppins"/>
                <a:ea typeface="Poppins"/>
                <a:cs typeface="Poppins"/>
                <a:sym typeface="Poppins"/>
              </a:rPr>
              <a:t>anteniendo la independencia de cada dominio</a:t>
            </a:r>
          </a:p>
        </p:txBody>
      </p:sp>
      <p:sp>
        <p:nvSpPr>
          <p:cNvPr name="Freeform 22" id="22"/>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13335000" y="6166413"/>
            <a:ext cx="6594044" cy="4305347"/>
            <a:chOff x="0" y="0"/>
            <a:chExt cx="1736703" cy="1133919"/>
          </a:xfrm>
        </p:grpSpPr>
        <p:sp>
          <p:nvSpPr>
            <p:cNvPr name="Freeform 3" id="3"/>
            <p:cNvSpPr/>
            <p:nvPr/>
          </p:nvSpPr>
          <p:spPr>
            <a:xfrm flipH="false" flipV="false" rot="0">
              <a:off x="0" y="0"/>
              <a:ext cx="1736703" cy="1133919"/>
            </a:xfrm>
            <a:custGeom>
              <a:avLst/>
              <a:gdLst/>
              <a:ahLst/>
              <a:cxnLst/>
              <a:rect r="r" b="b" t="t" l="l"/>
              <a:pathLst>
                <a:path h="1133919" w="1736703">
                  <a:moveTo>
                    <a:pt x="0" y="0"/>
                  </a:moveTo>
                  <a:lnTo>
                    <a:pt x="1736703" y="0"/>
                  </a:lnTo>
                  <a:lnTo>
                    <a:pt x="1736703" y="1133919"/>
                  </a:lnTo>
                  <a:lnTo>
                    <a:pt x="0" y="1133919"/>
                  </a:lnTo>
                  <a:close/>
                </a:path>
              </a:pathLst>
            </a:custGeom>
            <a:solidFill>
              <a:srgbClr val="0C4C31"/>
            </a:solidFill>
          </p:spPr>
        </p:sp>
        <p:sp>
          <p:nvSpPr>
            <p:cNvPr name="TextBox 4" id="4"/>
            <p:cNvSpPr txBox="true"/>
            <p:nvPr/>
          </p:nvSpPr>
          <p:spPr>
            <a:xfrm>
              <a:off x="0" y="-76200"/>
              <a:ext cx="1736703" cy="1210119"/>
            </a:xfrm>
            <a:prstGeom prst="rect">
              <a:avLst/>
            </a:prstGeom>
          </p:spPr>
          <p:txBody>
            <a:bodyPr anchor="ctr" rtlCol="false" tIns="50800" lIns="50800" bIns="50800" rIns="50800"/>
            <a:lstStyle/>
            <a:p>
              <a:pPr algn="ctr" marL="0" indent="0" lvl="0">
                <a:lnSpc>
                  <a:spcPts val="3422"/>
                </a:lnSpc>
              </a:pPr>
            </a:p>
          </p:txBody>
        </p:sp>
      </p:grpSp>
      <p:grpSp>
        <p:nvGrpSpPr>
          <p:cNvPr name="Group 5" id="5"/>
          <p:cNvGrpSpPr/>
          <p:nvPr/>
        </p:nvGrpSpPr>
        <p:grpSpPr>
          <a:xfrm rot="0">
            <a:off x="581025" y="2525251"/>
            <a:ext cx="8382000" cy="6571814"/>
            <a:chOff x="0" y="0"/>
            <a:chExt cx="2207605" cy="1730848"/>
          </a:xfrm>
        </p:grpSpPr>
        <p:sp>
          <p:nvSpPr>
            <p:cNvPr name="Freeform 6" id="6"/>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7" id="7"/>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grpSp>
        <p:nvGrpSpPr>
          <p:cNvPr name="Group 8" id="8"/>
          <p:cNvGrpSpPr/>
          <p:nvPr/>
        </p:nvGrpSpPr>
        <p:grpSpPr>
          <a:xfrm rot="0">
            <a:off x="514350" y="874395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0" id="10"/>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1" id="11"/>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08</a:t>
            </a:r>
          </a:p>
        </p:txBody>
      </p:sp>
      <p:grpSp>
        <p:nvGrpSpPr>
          <p:cNvPr name="Group 12" id="12"/>
          <p:cNvGrpSpPr/>
          <p:nvPr/>
        </p:nvGrpSpPr>
        <p:grpSpPr>
          <a:xfrm rot="0">
            <a:off x="620008" y="790575"/>
            <a:ext cx="7524750" cy="1496551"/>
            <a:chOff x="0" y="0"/>
            <a:chExt cx="10033000" cy="1995402"/>
          </a:xfrm>
        </p:grpSpPr>
        <p:sp>
          <p:nvSpPr>
            <p:cNvPr name="TextBox 13" id="13"/>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0C4C31"/>
                  </a:solidFill>
                  <a:latin typeface="DM Sans Bold"/>
                  <a:ea typeface="DM Sans Bold"/>
                  <a:cs typeface="DM Sans Bold"/>
                  <a:sym typeface="DM Sans Bold"/>
                </a:rPr>
                <a:t>ConectaU</a:t>
              </a:r>
            </a:p>
          </p:txBody>
        </p:sp>
        <p:sp>
          <p:nvSpPr>
            <p:cNvPr name="TextBox 14" id="14"/>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0C4C31"/>
                  </a:solidFill>
                  <a:latin typeface="DM Sans Bold"/>
                  <a:ea typeface="DM Sans Bold"/>
                  <a:cs typeface="DM Sans Bold"/>
                  <a:sym typeface="DM Sans Bold"/>
                </a:rPr>
                <a:t>Plataforma de mentorias</a:t>
              </a:r>
            </a:p>
          </p:txBody>
        </p:sp>
      </p:grpSp>
      <p:sp>
        <p:nvSpPr>
          <p:cNvPr name="TextBox 15" id="15"/>
          <p:cNvSpPr txBox="true"/>
          <p:nvPr/>
        </p:nvSpPr>
        <p:spPr>
          <a:xfrm rot="0">
            <a:off x="877183" y="2607968"/>
            <a:ext cx="7733061" cy="6101715"/>
          </a:xfrm>
          <a:prstGeom prst="rect">
            <a:avLst/>
          </a:prstGeom>
        </p:spPr>
        <p:txBody>
          <a:bodyPr anchor="t" rtlCol="false" tIns="0" lIns="0" bIns="0" rIns="0">
            <a:spAutoFit/>
          </a:bodyPr>
          <a:lstStyle/>
          <a:p>
            <a:pPr algn="just">
              <a:lnSpc>
                <a:spcPts val="2400"/>
              </a:lnSpc>
            </a:pPr>
            <a:r>
              <a:rPr lang="en-US" b="true" sz="1600">
                <a:solidFill>
                  <a:srgbClr val="333333"/>
                </a:solidFill>
                <a:latin typeface="Poppins Bold"/>
                <a:ea typeface="Poppins Bold"/>
                <a:cs typeface="Poppins Bold"/>
                <a:sym typeface="Poppins Bold"/>
              </a:rPr>
              <a:t>Alcance</a:t>
            </a:r>
          </a:p>
          <a:p>
            <a:pPr algn="just">
              <a:lnSpc>
                <a:spcPts val="2400"/>
              </a:lnSpc>
            </a:pPr>
            <a:r>
              <a:rPr lang="en-US" sz="1600">
                <a:solidFill>
                  <a:srgbClr val="333333"/>
                </a:solidFill>
                <a:latin typeface="Poppins"/>
                <a:ea typeface="Poppins"/>
                <a:cs typeface="Poppins"/>
                <a:sym typeface="Poppins"/>
              </a:rPr>
              <a:t>Plataforma web que conecta estudiantes de Duoc UC con mentores (egresados o estudiantes avanzados) para sesiones de orientación académica y profesional, con emparejamiento inteligente, agenda integrada y sistema de reputación.</a:t>
            </a:r>
          </a:p>
          <a:p>
            <a:pPr algn="just">
              <a:lnSpc>
                <a:spcPts val="2400"/>
              </a:lnSpc>
            </a:pPr>
          </a:p>
          <a:p>
            <a:pPr algn="just">
              <a:lnSpc>
                <a:spcPts val="2400"/>
              </a:lnSpc>
            </a:pPr>
            <a:r>
              <a:rPr lang="en-US" b="true" sz="1600">
                <a:solidFill>
                  <a:srgbClr val="333333"/>
                </a:solidFill>
                <a:latin typeface="Poppins Bold"/>
                <a:ea typeface="Poppins Bold"/>
                <a:cs typeface="Poppins Bold"/>
                <a:sym typeface="Poppins Bold"/>
              </a:rPr>
              <a:t>Objetivo General</a:t>
            </a:r>
          </a:p>
          <a:p>
            <a:pPr algn="just">
              <a:lnSpc>
                <a:spcPts val="2400"/>
              </a:lnSpc>
            </a:pPr>
            <a:r>
              <a:rPr lang="en-US" sz="1600">
                <a:solidFill>
                  <a:srgbClr val="333333"/>
                </a:solidFill>
                <a:latin typeface="Poppins"/>
                <a:ea typeface="Poppins"/>
                <a:cs typeface="Poppins"/>
                <a:sym typeface="Poppins"/>
              </a:rPr>
              <a:t>Desarrollar una plataforma de mentoría universitaria que facilite la conexión entre estudiantes y mentores de Duoc UC, mejorando el acompañamiento académico y profesional mediante tecnología de emparejamiento y videollamadas.</a:t>
            </a:r>
          </a:p>
          <a:p>
            <a:pPr algn="just">
              <a:lnSpc>
                <a:spcPts val="2400"/>
              </a:lnSpc>
            </a:pPr>
          </a:p>
          <a:p>
            <a:pPr algn="just">
              <a:lnSpc>
                <a:spcPts val="2400"/>
              </a:lnSpc>
            </a:pPr>
            <a:r>
              <a:rPr lang="en-US" b="true" sz="1600">
                <a:solidFill>
                  <a:srgbClr val="333333"/>
                </a:solidFill>
                <a:latin typeface="Poppins Bold"/>
                <a:ea typeface="Poppins Bold"/>
                <a:cs typeface="Poppins Bold"/>
                <a:sym typeface="Poppins Bold"/>
              </a:rPr>
              <a:t>Objetivos Específicos</a:t>
            </a:r>
          </a:p>
          <a:p>
            <a:pPr algn="just">
              <a:lnSpc>
                <a:spcPts val="2400"/>
              </a:lnSpc>
            </a:pPr>
            <a:r>
              <a:rPr lang="en-US" sz="1600">
                <a:solidFill>
                  <a:srgbClr val="333333"/>
                </a:solidFill>
                <a:latin typeface="Poppins"/>
                <a:ea typeface="Poppins"/>
                <a:cs typeface="Poppins"/>
                <a:sym typeface="Poppins"/>
              </a:rPr>
              <a:t>• Implementar un sistema de emparejamiento basado en intereses, carrera y disponibilidad.</a:t>
            </a:r>
          </a:p>
          <a:p>
            <a:pPr algn="just">
              <a:lnSpc>
                <a:spcPts val="2400"/>
              </a:lnSpc>
            </a:pPr>
            <a:r>
              <a:rPr lang="en-US" sz="1600">
                <a:solidFill>
                  <a:srgbClr val="333333"/>
                </a:solidFill>
                <a:latin typeface="Poppins"/>
                <a:ea typeface="Poppins"/>
                <a:cs typeface="Poppins"/>
                <a:sym typeface="Poppins"/>
              </a:rPr>
              <a:t>• Integrar agenda con Google Calendar para coordinar sesiones de mentoría.</a:t>
            </a:r>
          </a:p>
          <a:p>
            <a:pPr algn="just">
              <a:lnSpc>
                <a:spcPts val="2400"/>
              </a:lnSpc>
            </a:pPr>
            <a:r>
              <a:rPr lang="en-US" sz="1600">
                <a:solidFill>
                  <a:srgbClr val="333333"/>
                </a:solidFill>
                <a:latin typeface="Poppins"/>
                <a:ea typeface="Poppins"/>
                <a:cs typeface="Poppins"/>
                <a:sym typeface="Poppins"/>
              </a:rPr>
              <a:t>• Desarrollar un módulo de videollamadas para sesiones en tiempo real.</a:t>
            </a:r>
          </a:p>
          <a:p>
            <a:pPr algn="just">
              <a:lnSpc>
                <a:spcPts val="2400"/>
              </a:lnSpc>
            </a:pPr>
            <a:r>
              <a:rPr lang="en-US" sz="1600">
                <a:solidFill>
                  <a:srgbClr val="333333"/>
                </a:solidFill>
                <a:latin typeface="Poppins"/>
                <a:ea typeface="Poppins"/>
                <a:cs typeface="Poppins"/>
                <a:sym typeface="Poppins"/>
              </a:rPr>
              <a:t>• Crear un sistema de reputación y feedback entre mentores y estudiantes.</a:t>
            </a:r>
          </a:p>
          <a:p>
            <a:pPr algn="just">
              <a:lnSpc>
                <a:spcPts val="2400"/>
              </a:lnSpc>
            </a:pPr>
            <a:r>
              <a:rPr lang="en-US" sz="1600">
                <a:solidFill>
                  <a:srgbClr val="333333"/>
                </a:solidFill>
                <a:latin typeface="Poppins"/>
                <a:ea typeface="Poppins"/>
                <a:cs typeface="Poppins"/>
                <a:sym typeface="Poppins"/>
              </a:rPr>
              <a:t>• Diseñar una arquitectura de microservicios escalable y mantenible.</a:t>
            </a:r>
          </a:p>
        </p:txBody>
      </p:sp>
      <p:grpSp>
        <p:nvGrpSpPr>
          <p:cNvPr name="Group 16" id="16"/>
          <p:cNvGrpSpPr/>
          <p:nvPr/>
        </p:nvGrpSpPr>
        <p:grpSpPr>
          <a:xfrm rot="0">
            <a:off x="9312385" y="2525251"/>
            <a:ext cx="8382000" cy="6571814"/>
            <a:chOff x="0" y="0"/>
            <a:chExt cx="2207605" cy="1730848"/>
          </a:xfrm>
        </p:grpSpPr>
        <p:sp>
          <p:nvSpPr>
            <p:cNvPr name="Freeform 17" id="17"/>
            <p:cNvSpPr/>
            <p:nvPr/>
          </p:nvSpPr>
          <p:spPr>
            <a:xfrm flipH="false" flipV="false" rot="0">
              <a:off x="0" y="0"/>
              <a:ext cx="2207605" cy="1730848"/>
            </a:xfrm>
            <a:custGeom>
              <a:avLst/>
              <a:gdLst/>
              <a:ahLst/>
              <a:cxnLst/>
              <a:rect r="r" b="b" t="t" l="l"/>
              <a:pathLst>
                <a:path h="1730848" w="2207605">
                  <a:moveTo>
                    <a:pt x="0" y="0"/>
                  </a:moveTo>
                  <a:lnTo>
                    <a:pt x="2207605" y="0"/>
                  </a:lnTo>
                  <a:lnTo>
                    <a:pt x="2207605" y="1730848"/>
                  </a:lnTo>
                  <a:lnTo>
                    <a:pt x="0" y="1730848"/>
                  </a:lnTo>
                  <a:close/>
                </a:path>
              </a:pathLst>
            </a:custGeom>
            <a:solidFill>
              <a:srgbClr val="F5F5F5"/>
            </a:solidFill>
          </p:spPr>
        </p:sp>
        <p:sp>
          <p:nvSpPr>
            <p:cNvPr name="TextBox 18" id="18"/>
            <p:cNvSpPr txBox="true"/>
            <p:nvPr/>
          </p:nvSpPr>
          <p:spPr>
            <a:xfrm>
              <a:off x="0" y="-76200"/>
              <a:ext cx="2207605" cy="1807048"/>
            </a:xfrm>
            <a:prstGeom prst="rect">
              <a:avLst/>
            </a:prstGeom>
          </p:spPr>
          <p:txBody>
            <a:bodyPr anchor="ctr" rtlCol="false" tIns="50800" lIns="50800" bIns="50800" rIns="50800"/>
            <a:lstStyle/>
            <a:p>
              <a:pPr algn="ctr" marL="0" indent="0" lvl="0">
                <a:lnSpc>
                  <a:spcPts val="3422"/>
                </a:lnSpc>
              </a:pPr>
            </a:p>
          </p:txBody>
        </p:sp>
      </p:grpSp>
      <p:sp>
        <p:nvSpPr>
          <p:cNvPr name="TextBox 19" id="19"/>
          <p:cNvSpPr txBox="true"/>
          <p:nvPr/>
        </p:nvSpPr>
        <p:spPr>
          <a:xfrm rot="0">
            <a:off x="9636855" y="3079678"/>
            <a:ext cx="7733061" cy="5193030"/>
          </a:xfrm>
          <a:prstGeom prst="rect">
            <a:avLst/>
          </a:prstGeom>
        </p:spPr>
        <p:txBody>
          <a:bodyPr anchor="t" rtlCol="false" tIns="0" lIns="0" bIns="0" rIns="0">
            <a:spAutoFit/>
          </a:bodyPr>
          <a:lstStyle/>
          <a:p>
            <a:pPr algn="just">
              <a:lnSpc>
                <a:spcPts val="2550"/>
              </a:lnSpc>
            </a:pPr>
            <a:r>
              <a:rPr lang="en-US" b="true" sz="1700">
                <a:solidFill>
                  <a:srgbClr val="333333"/>
                </a:solidFill>
                <a:latin typeface="Poppins Bold"/>
                <a:ea typeface="Poppins Bold"/>
                <a:cs typeface="Poppins Bold"/>
                <a:sym typeface="Poppins Bold"/>
              </a:rPr>
              <a:t>Arquitectura</a:t>
            </a:r>
          </a:p>
          <a:p>
            <a:pPr algn="just">
              <a:lnSpc>
                <a:spcPts val="2550"/>
              </a:lnSpc>
            </a:pPr>
            <a:r>
              <a:rPr lang="en-US" sz="1700">
                <a:solidFill>
                  <a:srgbClr val="333333"/>
                </a:solidFill>
                <a:latin typeface="Poppins"/>
                <a:ea typeface="Poppins"/>
                <a:cs typeface="Poppins"/>
                <a:sym typeface="Poppins"/>
              </a:rPr>
              <a:t>Su arquitectura esta diseñada en capas independientes con un patrón de microservicios</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Base de datos</a:t>
            </a:r>
          </a:p>
          <a:p>
            <a:pPr algn="just">
              <a:lnSpc>
                <a:spcPts val="2550"/>
              </a:lnSpc>
            </a:pPr>
            <a:r>
              <a:rPr lang="en-US" sz="1700">
                <a:solidFill>
                  <a:srgbClr val="333333"/>
                </a:solidFill>
                <a:latin typeface="Poppins"/>
                <a:ea typeface="Poppins"/>
                <a:cs typeface="Poppins"/>
                <a:sym typeface="Poppins"/>
              </a:rPr>
              <a:t>Cada microservicio gestiona su propia base de datos (Database per Service)</a:t>
            </a:r>
          </a:p>
          <a:p>
            <a:pPr algn="just">
              <a:lnSpc>
                <a:spcPts val="2550"/>
              </a:lnSpc>
            </a:pPr>
          </a:p>
          <a:p>
            <a:pPr algn="just">
              <a:lnSpc>
                <a:spcPts val="2550"/>
              </a:lnSpc>
            </a:pPr>
            <a:r>
              <a:rPr lang="en-US" b="true" sz="1700">
                <a:solidFill>
                  <a:srgbClr val="333333"/>
                </a:solidFill>
                <a:latin typeface="Poppins Bold"/>
                <a:ea typeface="Poppins Bold"/>
                <a:cs typeface="Poppins Bold"/>
                <a:sym typeface="Poppins Bold"/>
              </a:rPr>
              <a:t>Metodología </a:t>
            </a:r>
          </a:p>
          <a:p>
            <a:pPr algn="just">
              <a:lnSpc>
                <a:spcPts val="2550"/>
              </a:lnSpc>
            </a:pPr>
            <a:r>
              <a:rPr lang="en-US" sz="1700">
                <a:solidFill>
                  <a:srgbClr val="333333"/>
                </a:solidFill>
                <a:latin typeface="Poppins"/>
                <a:ea typeface="Poppins"/>
                <a:cs typeface="Poppins"/>
                <a:sym typeface="Poppins"/>
              </a:rPr>
              <a:t>Se utilizará Scrum (Ágil) por la naturaleza evolutiva de los requisitos, entregas incrementales por sprint, retroalimentación continua y desarrollo paralelo de microservicios. No se usa Cascada (tradicional) porque exige requisitos completos desde el inicio, no permite cambios una vez avanzado el desarrollo, entrega valor solo al final del proyecto y no se adapta a la incertidumbre propia de plataformas innovadoras como ConectaU.</a:t>
            </a:r>
          </a:p>
        </p:txBody>
      </p:sp>
      <p:sp>
        <p:nvSpPr>
          <p:cNvPr name="Freeform 20" id="20"/>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sp>
        <p:nvSpPr>
          <p:cNvPr name="TextBox 5" id="5"/>
          <p:cNvSpPr txBox="true"/>
          <p:nvPr/>
        </p:nvSpPr>
        <p:spPr>
          <a:xfrm rot="0">
            <a:off x="16808249" y="7550912"/>
            <a:ext cx="686692" cy="165113"/>
          </a:xfrm>
          <a:prstGeom prst="rect">
            <a:avLst/>
          </a:prstGeom>
        </p:spPr>
        <p:txBody>
          <a:bodyPr anchor="t" rtlCol="false" tIns="0" lIns="0" bIns="0" rIns="0">
            <a:spAutoFit/>
          </a:bodyPr>
          <a:lstStyle/>
          <a:p>
            <a:pPr algn="ctr" marL="0" indent="0" lvl="0">
              <a:lnSpc>
                <a:spcPts val="1250"/>
              </a:lnSpc>
            </a:pPr>
            <a:r>
              <a:rPr lang="en-US" b="true" sz="1250">
                <a:solidFill>
                  <a:srgbClr val="F5F5F5"/>
                </a:solidFill>
                <a:latin typeface="DM Sans Bold"/>
                <a:ea typeface="DM Sans Bold"/>
                <a:cs typeface="DM Sans Bold"/>
                <a:sym typeface="DM Sans Bold"/>
              </a:rPr>
              <a:t>09</a:t>
            </a:r>
          </a:p>
        </p:txBody>
      </p:sp>
      <p:sp>
        <p:nvSpPr>
          <p:cNvPr name="Freeform 6" id="6"/>
          <p:cNvSpPr/>
          <p:nvPr/>
        </p:nvSpPr>
        <p:spPr>
          <a:xfrm flipH="false" flipV="false" rot="0">
            <a:off x="8144758" y="2500556"/>
            <a:ext cx="9777277" cy="6665796"/>
          </a:xfrm>
          <a:custGeom>
            <a:avLst/>
            <a:gdLst/>
            <a:ahLst/>
            <a:cxnLst/>
            <a:rect r="r" b="b" t="t" l="l"/>
            <a:pathLst>
              <a:path h="6665796" w="9777277">
                <a:moveTo>
                  <a:pt x="0" y="0"/>
                </a:moveTo>
                <a:lnTo>
                  <a:pt x="9777278" y="0"/>
                </a:lnTo>
                <a:lnTo>
                  <a:pt x="9777278" y="6665796"/>
                </a:lnTo>
                <a:lnTo>
                  <a:pt x="0" y="6665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5"/>
            <a:stretch>
              <a:fillRect l="0" t="0" r="0" b="0"/>
            </a:stretch>
          </a:blipFill>
        </p:spPr>
      </p:sp>
      <p:grpSp>
        <p:nvGrpSpPr>
          <p:cNvPr name="Group 8" id="8"/>
          <p:cNvGrpSpPr/>
          <p:nvPr/>
        </p:nvGrpSpPr>
        <p:grpSpPr>
          <a:xfrm rot="0">
            <a:off x="620008" y="790575"/>
            <a:ext cx="7524750" cy="1496551"/>
            <a:chOff x="0" y="0"/>
            <a:chExt cx="10033000" cy="1995402"/>
          </a:xfrm>
        </p:grpSpPr>
        <p:sp>
          <p:nvSpPr>
            <p:cNvPr name="TextBox 9" id="9"/>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Conecta U</a:t>
              </a:r>
            </a:p>
          </p:txBody>
        </p:sp>
        <p:sp>
          <p:nvSpPr>
            <p:cNvPr name="TextBox 10" id="10"/>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Arquitectura y r. técnicos</a:t>
              </a:r>
            </a:p>
          </p:txBody>
        </p:sp>
      </p:grpSp>
      <p:grpSp>
        <p:nvGrpSpPr>
          <p:cNvPr name="Group 11" id="11"/>
          <p:cNvGrpSpPr/>
          <p:nvPr/>
        </p:nvGrpSpPr>
        <p:grpSpPr>
          <a:xfrm rot="0">
            <a:off x="514350" y="2654555"/>
            <a:ext cx="7193822" cy="6539963"/>
            <a:chOff x="0" y="0"/>
            <a:chExt cx="1894669" cy="1722459"/>
          </a:xfrm>
        </p:grpSpPr>
        <p:sp>
          <p:nvSpPr>
            <p:cNvPr name="Freeform 12" id="12"/>
            <p:cNvSpPr/>
            <p:nvPr/>
          </p:nvSpPr>
          <p:spPr>
            <a:xfrm flipH="false" flipV="false" rot="0">
              <a:off x="0" y="0"/>
              <a:ext cx="1894669" cy="1722459"/>
            </a:xfrm>
            <a:custGeom>
              <a:avLst/>
              <a:gdLst/>
              <a:ahLst/>
              <a:cxnLst/>
              <a:rect r="r" b="b" t="t" l="l"/>
              <a:pathLst>
                <a:path h="1722459" w="1894669">
                  <a:moveTo>
                    <a:pt x="0" y="0"/>
                  </a:moveTo>
                  <a:lnTo>
                    <a:pt x="1894669" y="0"/>
                  </a:lnTo>
                  <a:lnTo>
                    <a:pt x="1894669" y="1722459"/>
                  </a:lnTo>
                  <a:lnTo>
                    <a:pt x="0" y="1722459"/>
                  </a:lnTo>
                  <a:close/>
                </a:path>
              </a:pathLst>
            </a:custGeom>
            <a:solidFill>
              <a:srgbClr val="F5F5F5"/>
            </a:solidFill>
          </p:spPr>
        </p:sp>
        <p:sp>
          <p:nvSpPr>
            <p:cNvPr name="TextBox 13" id="13"/>
            <p:cNvSpPr txBox="true"/>
            <p:nvPr/>
          </p:nvSpPr>
          <p:spPr>
            <a:xfrm>
              <a:off x="0" y="-76200"/>
              <a:ext cx="1894669" cy="1798659"/>
            </a:xfrm>
            <a:prstGeom prst="rect">
              <a:avLst/>
            </a:prstGeom>
          </p:spPr>
          <p:txBody>
            <a:bodyPr anchor="ctr" rtlCol="false" tIns="50800" lIns="50800" bIns="50800" rIns="50800"/>
            <a:lstStyle/>
            <a:p>
              <a:pPr algn="ctr" marL="0" indent="0" lvl="0">
                <a:lnSpc>
                  <a:spcPts val="3422"/>
                </a:lnSpc>
              </a:pPr>
            </a:p>
          </p:txBody>
        </p:sp>
      </p:grpSp>
      <p:grpSp>
        <p:nvGrpSpPr>
          <p:cNvPr name="Group 14" id="14"/>
          <p:cNvGrpSpPr/>
          <p:nvPr/>
        </p:nvGrpSpPr>
        <p:grpSpPr>
          <a:xfrm rot="0">
            <a:off x="514350" y="8743950"/>
            <a:ext cx="1028700" cy="10287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6" id="16"/>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7" id="17"/>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09</a:t>
            </a:r>
          </a:p>
        </p:txBody>
      </p:sp>
      <p:sp>
        <p:nvSpPr>
          <p:cNvPr name="TextBox 18" id="18"/>
          <p:cNvSpPr txBox="true"/>
          <p:nvPr/>
        </p:nvSpPr>
        <p:spPr>
          <a:xfrm rot="0">
            <a:off x="698161" y="2874989"/>
            <a:ext cx="6826200" cy="5840730"/>
          </a:xfrm>
          <a:prstGeom prst="rect">
            <a:avLst/>
          </a:prstGeom>
        </p:spPr>
        <p:txBody>
          <a:bodyPr anchor="t" rtlCol="false" tIns="0" lIns="0" bIns="0" rIns="0">
            <a:spAutoFit/>
          </a:bodyPr>
          <a:lstStyle/>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Capa Cliente:</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Aplic</a:t>
            </a:r>
            <a:r>
              <a:rPr lang="en-US" sz="1700">
                <a:solidFill>
                  <a:srgbClr val="333333"/>
                </a:solidFill>
                <a:latin typeface="Poppins"/>
                <a:ea typeface="Poppins"/>
                <a:cs typeface="Poppins"/>
                <a:sym typeface="Poppins"/>
              </a:rPr>
              <a:t>ac</a:t>
            </a:r>
            <a:r>
              <a:rPr lang="en-US" sz="1700">
                <a:solidFill>
                  <a:srgbClr val="333333"/>
                </a:solidFill>
                <a:latin typeface="Poppins"/>
                <a:ea typeface="Poppins"/>
                <a:cs typeface="Poppins"/>
                <a:sym typeface="Poppins"/>
              </a:rPr>
              <a:t>ión w</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b (SPA) que consume los servicios a través de un API Gateway centralizado.</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API Gateway:</a:t>
            </a:r>
            <a:r>
              <a:rPr lang="en-US" sz="1700">
                <a:solidFill>
                  <a:srgbClr val="333333"/>
                </a:solidFill>
                <a:latin typeface="Poppins"/>
                <a:ea typeface="Poppins"/>
                <a:cs typeface="Poppins"/>
                <a:sym typeface="Poppins"/>
              </a:rPr>
              <a:t> Punto de entrada único que gestiona autenticación, enrutamiento y balanceo de carga hacia los microservicios.</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Microservicios:</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Se</a:t>
            </a:r>
            <a:r>
              <a:rPr lang="en-US" sz="1700">
                <a:solidFill>
                  <a:srgbClr val="333333"/>
                </a:solidFill>
                <a:latin typeface="Poppins"/>
                <a:ea typeface="Poppins"/>
                <a:cs typeface="Poppins"/>
                <a:sym typeface="Poppins"/>
              </a:rPr>
              <a:t>r</a:t>
            </a:r>
            <a:r>
              <a:rPr lang="en-US" sz="1700">
                <a:solidFill>
                  <a:srgbClr val="333333"/>
                </a:solidFill>
                <a:latin typeface="Poppins"/>
                <a:ea typeface="Poppins"/>
                <a:cs typeface="Poppins"/>
                <a:sym typeface="Poppins"/>
              </a:rPr>
              <a:t>v</a:t>
            </a:r>
            <a:r>
              <a:rPr lang="en-US" sz="1700">
                <a:solidFill>
                  <a:srgbClr val="333333"/>
                </a:solidFill>
                <a:latin typeface="Poppins"/>
                <a:ea typeface="Poppins"/>
                <a:cs typeface="Poppins"/>
                <a:sym typeface="Poppins"/>
              </a:rPr>
              <a:t>ici</a:t>
            </a:r>
            <a:r>
              <a:rPr lang="en-US" sz="1700">
                <a:solidFill>
                  <a:srgbClr val="333333"/>
                </a:solidFill>
                <a:latin typeface="Poppins"/>
                <a:ea typeface="Poppins"/>
                <a:cs typeface="Poppins"/>
                <a:sym typeface="Poppins"/>
              </a:rPr>
              <a:t>o de Usuarios: Registro, </a:t>
            </a:r>
            <a:r>
              <a:rPr lang="en-US" sz="1700">
                <a:solidFill>
                  <a:srgbClr val="333333"/>
                </a:solidFill>
                <a:latin typeface="Poppins"/>
                <a:ea typeface="Poppins"/>
                <a:cs typeface="Poppins"/>
                <a:sym typeface="Poppins"/>
              </a:rPr>
              <a:t>p</a:t>
            </a:r>
            <a:r>
              <a:rPr lang="en-US" sz="1700">
                <a:solidFill>
                  <a:srgbClr val="333333"/>
                </a:solidFill>
                <a:latin typeface="Poppins"/>
                <a:ea typeface="Poppins"/>
                <a:cs typeface="Poppins"/>
                <a:sym typeface="Poppins"/>
              </a:rPr>
              <a:t>erfi</a:t>
            </a:r>
            <a:r>
              <a:rPr lang="en-US" sz="1700">
                <a:solidFill>
                  <a:srgbClr val="333333"/>
                </a:solidFill>
                <a:latin typeface="Poppins"/>
                <a:ea typeface="Poppins"/>
                <a:cs typeface="Poppins"/>
                <a:sym typeface="Poppins"/>
              </a:rPr>
              <a:t>les</a:t>
            </a:r>
            <a:r>
              <a:rPr lang="en-US" sz="1700">
                <a:solidFill>
                  <a:srgbClr val="333333"/>
                </a:solidFill>
                <a:latin typeface="Poppins"/>
                <a:ea typeface="Poppins"/>
                <a:cs typeface="Poppins"/>
                <a:sym typeface="Poppins"/>
              </a:rPr>
              <a:t> y autenticación.</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Servicio de Emparejamiento: Algoritmo inteligente de matching mentor-estudiante.</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Servicio de Agenda: Integr</a:t>
            </a:r>
            <a:r>
              <a:rPr lang="en-US" sz="1700">
                <a:solidFill>
                  <a:srgbClr val="333333"/>
                </a:solidFill>
                <a:latin typeface="Poppins"/>
                <a:ea typeface="Poppins"/>
                <a:cs typeface="Poppins"/>
                <a:sym typeface="Poppins"/>
              </a:rPr>
              <a:t>aci</a:t>
            </a:r>
            <a:r>
              <a:rPr lang="en-US" sz="1700">
                <a:solidFill>
                  <a:srgbClr val="333333"/>
                </a:solidFill>
                <a:latin typeface="Poppins"/>
                <a:ea typeface="Poppins"/>
                <a:cs typeface="Poppins"/>
                <a:sym typeface="Poppins"/>
              </a:rPr>
              <a:t>ó</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 c</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Google Ca</a:t>
            </a:r>
            <a:r>
              <a:rPr lang="en-US" sz="1700">
                <a:solidFill>
                  <a:srgbClr val="333333"/>
                </a:solidFill>
                <a:latin typeface="Poppins"/>
                <a:ea typeface="Poppins"/>
                <a:cs typeface="Poppins"/>
                <a:sym typeface="Poppins"/>
              </a:rPr>
              <a:t>le</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da</a:t>
            </a:r>
            <a:r>
              <a:rPr lang="en-US" sz="1700">
                <a:solidFill>
                  <a:srgbClr val="333333"/>
                </a:solidFill>
                <a:latin typeface="Poppins"/>
                <a:ea typeface="Poppins"/>
                <a:cs typeface="Poppins"/>
                <a:sym typeface="Poppins"/>
              </a:rPr>
              <a:t>r para coordinar sesiones.</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Servicio de Videollamadas: Comunicación en tiempo real.</a:t>
            </a:r>
          </a:p>
          <a:p>
            <a:pPr algn="l" marL="367031" indent="-183515" lvl="1">
              <a:lnSpc>
                <a:spcPts val="2550"/>
              </a:lnSpc>
              <a:buAutoNum type="arabicPeriod" startAt="1"/>
            </a:pP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S</a:t>
            </a:r>
            <a:r>
              <a:rPr lang="en-US" sz="1700">
                <a:solidFill>
                  <a:srgbClr val="333333"/>
                </a:solidFill>
                <a:latin typeface="Poppins"/>
                <a:ea typeface="Poppins"/>
                <a:cs typeface="Poppins"/>
                <a:sym typeface="Poppins"/>
              </a:rPr>
              <a:t>er</a:t>
            </a:r>
            <a:r>
              <a:rPr lang="en-US" sz="1700">
                <a:solidFill>
                  <a:srgbClr val="333333"/>
                </a:solidFill>
                <a:latin typeface="Poppins"/>
                <a:ea typeface="Poppins"/>
                <a:cs typeface="Poppins"/>
                <a:sym typeface="Poppins"/>
              </a:rPr>
              <a:t>vi</a:t>
            </a:r>
            <a:r>
              <a:rPr lang="en-US" sz="1700">
                <a:solidFill>
                  <a:srgbClr val="333333"/>
                </a:solidFill>
                <a:latin typeface="Poppins"/>
                <a:ea typeface="Poppins"/>
                <a:cs typeface="Poppins"/>
                <a:sym typeface="Poppins"/>
              </a:rPr>
              <a:t>cio</a:t>
            </a:r>
            <a:r>
              <a:rPr lang="en-US" sz="1700">
                <a:solidFill>
                  <a:srgbClr val="333333"/>
                </a:solidFill>
                <a:latin typeface="Poppins"/>
                <a:ea typeface="Poppins"/>
                <a:cs typeface="Poppins"/>
                <a:sym typeface="Poppins"/>
              </a:rPr>
              <a:t> d</a:t>
            </a:r>
            <a:r>
              <a:rPr lang="en-US" sz="1700">
                <a:solidFill>
                  <a:srgbClr val="333333"/>
                </a:solidFill>
                <a:latin typeface="Poppins"/>
                <a:ea typeface="Poppins"/>
                <a:cs typeface="Poppins"/>
                <a:sym typeface="Poppins"/>
              </a:rPr>
              <a:t>e </a:t>
            </a:r>
            <a:r>
              <a:rPr lang="en-US" sz="1700">
                <a:solidFill>
                  <a:srgbClr val="333333"/>
                </a:solidFill>
                <a:latin typeface="Poppins"/>
                <a:ea typeface="Poppins"/>
                <a:cs typeface="Poppins"/>
                <a:sym typeface="Poppins"/>
              </a:rPr>
              <a:t>R</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pu</a:t>
            </a:r>
            <a:r>
              <a:rPr lang="en-US" sz="1700">
                <a:solidFill>
                  <a:srgbClr val="333333"/>
                </a:solidFill>
                <a:latin typeface="Poppins"/>
                <a:ea typeface="Poppins"/>
                <a:cs typeface="Poppins"/>
                <a:sym typeface="Poppins"/>
              </a:rPr>
              <a:t>t</a:t>
            </a:r>
            <a:r>
              <a:rPr lang="en-US" sz="1700">
                <a:solidFill>
                  <a:srgbClr val="333333"/>
                </a:solidFill>
                <a:latin typeface="Poppins"/>
                <a:ea typeface="Poppins"/>
                <a:cs typeface="Poppins"/>
                <a:sym typeface="Poppins"/>
              </a:rPr>
              <a:t>ació</a:t>
            </a:r>
            <a:r>
              <a:rPr lang="en-US" sz="1700">
                <a:solidFill>
                  <a:srgbClr val="333333"/>
                </a:solidFill>
                <a:latin typeface="Poppins"/>
                <a:ea typeface="Poppins"/>
                <a:cs typeface="Poppins"/>
                <a:sym typeface="Poppins"/>
              </a:rPr>
              <a:t>n</a:t>
            </a:r>
            <a:r>
              <a:rPr lang="en-US" sz="1700">
                <a:solidFill>
                  <a:srgbClr val="333333"/>
                </a:solidFill>
                <a:latin typeface="Poppins"/>
                <a:ea typeface="Poppins"/>
                <a:cs typeface="Poppins"/>
                <a:sym typeface="Poppins"/>
              </a:rPr>
              <a:t>: Feedback y calificaciones.</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Bases de Datos:</a:t>
            </a:r>
            <a:r>
              <a:rPr lang="en-US" sz="1700">
                <a:solidFill>
                  <a:srgbClr val="333333"/>
                </a:solidFill>
                <a:latin typeface="Poppins"/>
                <a:ea typeface="Poppins"/>
                <a:cs typeface="Poppins"/>
                <a:sym typeface="Poppins"/>
              </a:rPr>
              <a:t> Cada servicio posee su propia base de datos (patrón Database per Service), garantizando independencia y escalabilidad.</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Servicios Externos:</a:t>
            </a:r>
            <a:r>
              <a:rPr lang="en-US" sz="1700">
                <a:solidFill>
                  <a:srgbClr val="333333"/>
                </a:solidFill>
                <a:latin typeface="Poppins"/>
                <a:ea typeface="Poppins"/>
                <a:cs typeface="Poppins"/>
                <a:sym typeface="Poppins"/>
              </a:rPr>
              <a:t> Google Calendar API y proveedor de videollamadas (WebRTC)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7E3D7"/>
        </a:solidFill>
      </p:bgPr>
    </p:bg>
    <p:spTree>
      <p:nvGrpSpPr>
        <p:cNvPr id="1" name=""/>
        <p:cNvGrpSpPr/>
        <p:nvPr/>
      </p:nvGrpSpPr>
      <p:grpSpPr>
        <a:xfrm>
          <a:off x="0" y="0"/>
          <a:ext cx="0" cy="0"/>
          <a:chOff x="0" y="0"/>
          <a:chExt cx="0" cy="0"/>
        </a:xfrm>
      </p:grpSpPr>
      <p:grpSp>
        <p:nvGrpSpPr>
          <p:cNvPr name="Group 2" id="2"/>
          <p:cNvGrpSpPr/>
          <p:nvPr/>
        </p:nvGrpSpPr>
        <p:grpSpPr>
          <a:xfrm rot="0">
            <a:off x="-293577" y="-477723"/>
            <a:ext cx="19183151" cy="4592523"/>
            <a:chOff x="0" y="0"/>
            <a:chExt cx="5052352" cy="1209553"/>
          </a:xfrm>
        </p:grpSpPr>
        <p:sp>
          <p:nvSpPr>
            <p:cNvPr name="Freeform 3" id="3"/>
            <p:cNvSpPr/>
            <p:nvPr/>
          </p:nvSpPr>
          <p:spPr>
            <a:xfrm flipH="false" flipV="false" rot="0">
              <a:off x="0" y="0"/>
              <a:ext cx="5052352" cy="1209553"/>
            </a:xfrm>
            <a:custGeom>
              <a:avLst/>
              <a:gdLst/>
              <a:ahLst/>
              <a:cxnLst/>
              <a:rect r="r" b="b" t="t" l="l"/>
              <a:pathLst>
                <a:path h="1209553" w="5052352">
                  <a:moveTo>
                    <a:pt x="0" y="0"/>
                  </a:moveTo>
                  <a:lnTo>
                    <a:pt x="5052352" y="0"/>
                  </a:lnTo>
                  <a:lnTo>
                    <a:pt x="5052352" y="1209553"/>
                  </a:lnTo>
                  <a:lnTo>
                    <a:pt x="0" y="1209553"/>
                  </a:lnTo>
                  <a:close/>
                </a:path>
              </a:pathLst>
            </a:custGeom>
            <a:solidFill>
              <a:srgbClr val="0C4C31"/>
            </a:solidFill>
          </p:spPr>
        </p:sp>
        <p:sp>
          <p:nvSpPr>
            <p:cNvPr name="TextBox 4" id="4"/>
            <p:cNvSpPr txBox="true"/>
            <p:nvPr/>
          </p:nvSpPr>
          <p:spPr>
            <a:xfrm>
              <a:off x="0" y="-76200"/>
              <a:ext cx="5052352" cy="1285753"/>
            </a:xfrm>
            <a:prstGeom prst="rect">
              <a:avLst/>
            </a:prstGeom>
          </p:spPr>
          <p:txBody>
            <a:bodyPr anchor="ctr" rtlCol="false" tIns="50800" lIns="50800" bIns="50800" rIns="50800"/>
            <a:lstStyle/>
            <a:p>
              <a:pPr algn="ctr" marL="0" indent="0" lvl="0">
                <a:lnSpc>
                  <a:spcPts val="3422"/>
                </a:lnSpc>
              </a:pPr>
            </a:p>
          </p:txBody>
        </p:sp>
      </p:grpSp>
      <p:grpSp>
        <p:nvGrpSpPr>
          <p:cNvPr name="Group 5" id="5"/>
          <p:cNvGrpSpPr/>
          <p:nvPr/>
        </p:nvGrpSpPr>
        <p:grpSpPr>
          <a:xfrm rot="0">
            <a:off x="514350" y="2488809"/>
            <a:ext cx="5455302" cy="6705709"/>
            <a:chOff x="0" y="0"/>
            <a:chExt cx="1436787" cy="1766113"/>
          </a:xfrm>
        </p:grpSpPr>
        <p:sp>
          <p:nvSpPr>
            <p:cNvPr name="Freeform 6" id="6"/>
            <p:cNvSpPr/>
            <p:nvPr/>
          </p:nvSpPr>
          <p:spPr>
            <a:xfrm flipH="false" flipV="false" rot="0">
              <a:off x="0" y="0"/>
              <a:ext cx="1436787" cy="1766113"/>
            </a:xfrm>
            <a:custGeom>
              <a:avLst/>
              <a:gdLst/>
              <a:ahLst/>
              <a:cxnLst/>
              <a:rect r="r" b="b" t="t" l="l"/>
              <a:pathLst>
                <a:path h="1766113" w="1436787">
                  <a:moveTo>
                    <a:pt x="0" y="0"/>
                  </a:moveTo>
                  <a:lnTo>
                    <a:pt x="1436787" y="0"/>
                  </a:lnTo>
                  <a:lnTo>
                    <a:pt x="1436787" y="1766113"/>
                  </a:lnTo>
                  <a:lnTo>
                    <a:pt x="0" y="1766113"/>
                  </a:lnTo>
                  <a:close/>
                </a:path>
              </a:pathLst>
            </a:custGeom>
            <a:solidFill>
              <a:srgbClr val="F5F5F5"/>
            </a:solidFill>
          </p:spPr>
        </p:sp>
        <p:sp>
          <p:nvSpPr>
            <p:cNvPr name="TextBox 7" id="7"/>
            <p:cNvSpPr txBox="true"/>
            <p:nvPr/>
          </p:nvSpPr>
          <p:spPr>
            <a:xfrm>
              <a:off x="0" y="-76200"/>
              <a:ext cx="1436787" cy="1842313"/>
            </a:xfrm>
            <a:prstGeom prst="rect">
              <a:avLst/>
            </a:prstGeom>
          </p:spPr>
          <p:txBody>
            <a:bodyPr anchor="ctr" rtlCol="false" tIns="50800" lIns="50800" bIns="50800" rIns="50800"/>
            <a:lstStyle/>
            <a:p>
              <a:pPr algn="ctr" marL="0" indent="0" lvl="0">
                <a:lnSpc>
                  <a:spcPts val="3422"/>
                </a:lnSpc>
              </a:pPr>
            </a:p>
          </p:txBody>
        </p:sp>
      </p:grpSp>
      <p:grpSp>
        <p:nvGrpSpPr>
          <p:cNvPr name="Group 8" id="8"/>
          <p:cNvGrpSpPr/>
          <p:nvPr/>
        </p:nvGrpSpPr>
        <p:grpSpPr>
          <a:xfrm rot="0">
            <a:off x="514350" y="874395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4C31"/>
            </a:solidFill>
          </p:spPr>
        </p:sp>
        <p:sp>
          <p:nvSpPr>
            <p:cNvPr name="TextBox 10" id="10"/>
            <p:cNvSpPr txBox="true"/>
            <p:nvPr/>
          </p:nvSpPr>
          <p:spPr>
            <a:xfrm>
              <a:off x="76200" y="0"/>
              <a:ext cx="660400" cy="736600"/>
            </a:xfrm>
            <a:prstGeom prst="rect">
              <a:avLst/>
            </a:prstGeom>
          </p:spPr>
          <p:txBody>
            <a:bodyPr anchor="ctr" rtlCol="false" tIns="50800" lIns="50800" bIns="50800" rIns="50800"/>
            <a:lstStyle/>
            <a:p>
              <a:pPr algn="ctr" marL="0" indent="0" lvl="0">
                <a:lnSpc>
                  <a:spcPts val="3422"/>
                </a:lnSpc>
              </a:pPr>
            </a:p>
          </p:txBody>
        </p:sp>
      </p:grpSp>
      <p:sp>
        <p:nvSpPr>
          <p:cNvPr name="TextBox 11" id="11"/>
          <p:cNvSpPr txBox="true"/>
          <p:nvPr/>
        </p:nvSpPr>
        <p:spPr>
          <a:xfrm rot="0">
            <a:off x="685354" y="9084437"/>
            <a:ext cx="686692" cy="173355"/>
          </a:xfrm>
          <a:prstGeom prst="rect">
            <a:avLst/>
          </a:prstGeom>
        </p:spPr>
        <p:txBody>
          <a:bodyPr anchor="t" rtlCol="false" tIns="0" lIns="0" bIns="0" rIns="0">
            <a:spAutoFit/>
          </a:bodyPr>
          <a:lstStyle/>
          <a:p>
            <a:pPr algn="ctr" marL="0" indent="0" lvl="0">
              <a:lnSpc>
                <a:spcPts val="1200"/>
              </a:lnSpc>
            </a:pPr>
            <a:r>
              <a:rPr lang="en-US" b="true" sz="1200">
                <a:solidFill>
                  <a:srgbClr val="F5F5F5"/>
                </a:solidFill>
                <a:latin typeface="DM Sans Bold"/>
                <a:ea typeface="DM Sans Bold"/>
                <a:cs typeface="DM Sans Bold"/>
                <a:sym typeface="DM Sans Bold"/>
              </a:rPr>
              <a:t>10</a:t>
            </a:r>
          </a:p>
        </p:txBody>
      </p:sp>
      <p:sp>
        <p:nvSpPr>
          <p:cNvPr name="Freeform 12" id="12"/>
          <p:cNvSpPr/>
          <p:nvPr/>
        </p:nvSpPr>
        <p:spPr>
          <a:xfrm flipH="false" flipV="false" rot="0">
            <a:off x="12196946" y="5371792"/>
            <a:ext cx="5870015" cy="976979"/>
          </a:xfrm>
          <a:custGeom>
            <a:avLst/>
            <a:gdLst/>
            <a:ahLst/>
            <a:cxnLst/>
            <a:rect r="r" b="b" t="t" l="l"/>
            <a:pathLst>
              <a:path h="976979" w="5870015">
                <a:moveTo>
                  <a:pt x="0" y="0"/>
                </a:moveTo>
                <a:lnTo>
                  <a:pt x="5870015" y="0"/>
                </a:lnTo>
                <a:lnTo>
                  <a:pt x="5870015" y="976979"/>
                </a:lnTo>
                <a:lnTo>
                  <a:pt x="0" y="9769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6150627" y="2287126"/>
            <a:ext cx="5870015" cy="1815681"/>
          </a:xfrm>
          <a:custGeom>
            <a:avLst/>
            <a:gdLst/>
            <a:ahLst/>
            <a:cxnLst/>
            <a:rect r="r" b="b" t="t" l="l"/>
            <a:pathLst>
              <a:path h="1815681" w="5870015">
                <a:moveTo>
                  <a:pt x="0" y="0"/>
                </a:moveTo>
                <a:lnTo>
                  <a:pt x="5870015" y="0"/>
                </a:lnTo>
                <a:lnTo>
                  <a:pt x="5870015" y="1815682"/>
                </a:lnTo>
                <a:lnTo>
                  <a:pt x="0" y="18156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196946" y="6416713"/>
            <a:ext cx="5870015" cy="2164020"/>
          </a:xfrm>
          <a:custGeom>
            <a:avLst/>
            <a:gdLst/>
            <a:ahLst/>
            <a:cxnLst/>
            <a:rect r="r" b="b" t="t" l="l"/>
            <a:pathLst>
              <a:path h="2164020" w="5870015">
                <a:moveTo>
                  <a:pt x="0" y="0"/>
                </a:moveTo>
                <a:lnTo>
                  <a:pt x="5870015" y="0"/>
                </a:lnTo>
                <a:lnTo>
                  <a:pt x="5870015" y="2164021"/>
                </a:lnTo>
                <a:lnTo>
                  <a:pt x="0" y="21640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6150627" y="4166980"/>
            <a:ext cx="5870015" cy="2176045"/>
          </a:xfrm>
          <a:custGeom>
            <a:avLst/>
            <a:gdLst/>
            <a:ahLst/>
            <a:cxnLst/>
            <a:rect r="r" b="b" t="t" l="l"/>
            <a:pathLst>
              <a:path h="2176045" w="5870015">
                <a:moveTo>
                  <a:pt x="0" y="0"/>
                </a:moveTo>
                <a:lnTo>
                  <a:pt x="5870015" y="0"/>
                </a:lnTo>
                <a:lnTo>
                  <a:pt x="5870015" y="2176046"/>
                </a:lnTo>
                <a:lnTo>
                  <a:pt x="0" y="21760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2196946" y="2287126"/>
            <a:ext cx="5870015" cy="3020493"/>
          </a:xfrm>
          <a:custGeom>
            <a:avLst/>
            <a:gdLst/>
            <a:ahLst/>
            <a:cxnLst/>
            <a:rect r="r" b="b" t="t" l="l"/>
            <a:pathLst>
              <a:path h="3020493" w="5870015">
                <a:moveTo>
                  <a:pt x="0" y="0"/>
                </a:moveTo>
                <a:lnTo>
                  <a:pt x="5870015" y="0"/>
                </a:lnTo>
                <a:lnTo>
                  <a:pt x="5870015" y="3020494"/>
                </a:lnTo>
                <a:lnTo>
                  <a:pt x="0" y="30204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0">
            <a:off x="6150627" y="6403552"/>
            <a:ext cx="5870015" cy="3208942"/>
          </a:xfrm>
          <a:custGeom>
            <a:avLst/>
            <a:gdLst/>
            <a:ahLst/>
            <a:cxnLst/>
            <a:rect r="r" b="b" t="t" l="l"/>
            <a:pathLst>
              <a:path h="3208942" w="5870015">
                <a:moveTo>
                  <a:pt x="0" y="0"/>
                </a:moveTo>
                <a:lnTo>
                  <a:pt x="5870015" y="0"/>
                </a:lnTo>
                <a:lnTo>
                  <a:pt x="5870015" y="3208941"/>
                </a:lnTo>
                <a:lnTo>
                  <a:pt x="0" y="32089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8" id="18"/>
          <p:cNvGrpSpPr/>
          <p:nvPr/>
        </p:nvGrpSpPr>
        <p:grpSpPr>
          <a:xfrm rot="0">
            <a:off x="620008" y="790575"/>
            <a:ext cx="7524750" cy="1496551"/>
            <a:chOff x="0" y="0"/>
            <a:chExt cx="10033000" cy="1995402"/>
          </a:xfrm>
        </p:grpSpPr>
        <p:sp>
          <p:nvSpPr>
            <p:cNvPr name="TextBox 19" id="19"/>
            <p:cNvSpPr txBox="true"/>
            <p:nvPr/>
          </p:nvSpPr>
          <p:spPr>
            <a:xfrm rot="0">
              <a:off x="0" y="123825"/>
              <a:ext cx="9696001" cy="1306850"/>
            </a:xfrm>
            <a:prstGeom prst="rect">
              <a:avLst/>
            </a:prstGeom>
          </p:spPr>
          <p:txBody>
            <a:bodyPr anchor="t" rtlCol="false" tIns="0" lIns="0" bIns="0" rIns="0">
              <a:spAutoFit/>
            </a:bodyPr>
            <a:lstStyle/>
            <a:p>
              <a:pPr algn="l" marL="0" indent="0" lvl="0">
                <a:lnSpc>
                  <a:spcPts val="7056"/>
                </a:lnSpc>
              </a:pPr>
              <a:r>
                <a:rPr lang="en-US" b="true" sz="7056">
                  <a:solidFill>
                    <a:srgbClr val="F5F5F5"/>
                  </a:solidFill>
                  <a:latin typeface="DM Sans Bold"/>
                  <a:ea typeface="DM Sans Bold"/>
                  <a:cs typeface="DM Sans Bold"/>
                  <a:sym typeface="DM Sans Bold"/>
                </a:rPr>
                <a:t>Conecta U</a:t>
              </a:r>
            </a:p>
          </p:txBody>
        </p:sp>
        <p:sp>
          <p:nvSpPr>
            <p:cNvPr name="TextBox 20" id="20"/>
            <p:cNvSpPr txBox="true"/>
            <p:nvPr/>
          </p:nvSpPr>
          <p:spPr>
            <a:xfrm rot="0">
              <a:off x="0" y="1487825"/>
              <a:ext cx="10033000" cy="507577"/>
            </a:xfrm>
            <a:prstGeom prst="rect">
              <a:avLst/>
            </a:prstGeom>
          </p:spPr>
          <p:txBody>
            <a:bodyPr anchor="t" rtlCol="false" tIns="0" lIns="0" bIns="0" rIns="0">
              <a:spAutoFit/>
            </a:bodyPr>
            <a:lstStyle/>
            <a:p>
              <a:pPr algn="l" marL="0" indent="0" lvl="0">
                <a:lnSpc>
                  <a:spcPts val="2799"/>
                </a:lnSpc>
                <a:spcBef>
                  <a:spcPct val="0"/>
                </a:spcBef>
              </a:pPr>
              <a:r>
                <a:rPr lang="en-US" b="true" sz="2799">
                  <a:solidFill>
                    <a:srgbClr val="F5F5F5"/>
                  </a:solidFill>
                  <a:latin typeface="DM Sans Bold"/>
                  <a:ea typeface="DM Sans Bold"/>
                  <a:cs typeface="DM Sans Bold"/>
                  <a:sym typeface="DM Sans Bold"/>
                </a:rPr>
                <a:t>Modelo de datos</a:t>
              </a:r>
            </a:p>
          </p:txBody>
        </p:sp>
      </p:grpSp>
      <p:sp>
        <p:nvSpPr>
          <p:cNvPr name="Freeform 21" id="21"/>
          <p:cNvSpPr/>
          <p:nvPr/>
        </p:nvSpPr>
        <p:spPr>
          <a:xfrm flipH="false" flipV="false" rot="0">
            <a:off x="13759894" y="256721"/>
            <a:ext cx="3918506" cy="981529"/>
          </a:xfrm>
          <a:custGeom>
            <a:avLst/>
            <a:gdLst/>
            <a:ahLst/>
            <a:cxnLst/>
            <a:rect r="r" b="b" t="t" l="l"/>
            <a:pathLst>
              <a:path h="981529" w="3918506">
                <a:moveTo>
                  <a:pt x="0" y="0"/>
                </a:moveTo>
                <a:lnTo>
                  <a:pt x="3918506" y="0"/>
                </a:lnTo>
                <a:lnTo>
                  <a:pt x="3918506" y="981529"/>
                </a:lnTo>
                <a:lnTo>
                  <a:pt x="0" y="981529"/>
                </a:lnTo>
                <a:lnTo>
                  <a:pt x="0" y="0"/>
                </a:lnTo>
                <a:close/>
              </a:path>
            </a:pathLst>
          </a:custGeom>
          <a:blipFill>
            <a:blip r:embed="rId15"/>
            <a:stretch>
              <a:fillRect l="0" t="0" r="0" b="0"/>
            </a:stretch>
          </a:blipFill>
        </p:spPr>
      </p:sp>
      <p:sp>
        <p:nvSpPr>
          <p:cNvPr name="TextBox 22" id="22"/>
          <p:cNvSpPr txBox="true"/>
          <p:nvPr/>
        </p:nvSpPr>
        <p:spPr>
          <a:xfrm rot="0">
            <a:off x="712779" y="2765034"/>
            <a:ext cx="5058444" cy="5840730"/>
          </a:xfrm>
          <a:prstGeom prst="rect">
            <a:avLst/>
          </a:prstGeom>
        </p:spPr>
        <p:txBody>
          <a:bodyPr anchor="t" rtlCol="false" tIns="0" lIns="0" bIns="0" rIns="0">
            <a:spAutoFit/>
          </a:bodyPr>
          <a:lstStyle/>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Usuarios:</a:t>
            </a:r>
            <a:r>
              <a:rPr lang="en-US" sz="1700">
                <a:solidFill>
                  <a:srgbClr val="333333"/>
                </a:solidFill>
                <a:latin typeface="Poppins"/>
                <a:ea typeface="Poppins"/>
                <a:cs typeface="Poppins"/>
                <a:sym typeface="Poppins"/>
              </a:rPr>
              <a:t> Tablas de perfiles, credenciales y roles (mentor/estudiante).</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Emparejamiento:</a:t>
            </a:r>
            <a:r>
              <a:rPr lang="en-US" sz="1700">
                <a:solidFill>
                  <a:srgbClr val="333333"/>
                </a:solidFill>
                <a:latin typeface="Poppins"/>
                <a:ea typeface="Poppins"/>
                <a:cs typeface="Poppins"/>
                <a:sym typeface="Poppins"/>
              </a:rPr>
              <a:t> Registros</a:t>
            </a:r>
            <a:r>
              <a:rPr lang="en-US" sz="1700">
                <a:solidFill>
                  <a:srgbClr val="333333"/>
                </a:solidFill>
                <a:latin typeface="Poppins"/>
                <a:ea typeface="Poppins"/>
                <a:cs typeface="Poppins"/>
                <a:sym typeface="Poppins"/>
              </a:rPr>
              <a:t> de </a:t>
            </a:r>
            <a:r>
              <a:rPr lang="en-US" sz="1700">
                <a:solidFill>
                  <a:srgbClr val="333333"/>
                </a:solidFill>
                <a:latin typeface="Poppins"/>
                <a:ea typeface="Poppins"/>
                <a:cs typeface="Poppins"/>
                <a:sym typeface="Poppins"/>
              </a:rPr>
              <a:t>m</a:t>
            </a:r>
            <a:r>
              <a:rPr lang="en-US" sz="1700">
                <a:solidFill>
                  <a:srgbClr val="333333"/>
                </a:solidFill>
                <a:latin typeface="Poppins"/>
                <a:ea typeface="Poppins"/>
                <a:cs typeface="Poppins"/>
                <a:sym typeface="Poppins"/>
              </a:rPr>
              <a:t>at</a:t>
            </a:r>
            <a:r>
              <a:rPr lang="en-US" sz="1700">
                <a:solidFill>
                  <a:srgbClr val="333333"/>
                </a:solidFill>
                <a:latin typeface="Poppins"/>
                <a:ea typeface="Poppins"/>
                <a:cs typeface="Poppins"/>
                <a:sym typeface="Poppins"/>
              </a:rPr>
              <a:t>chin</a:t>
            </a:r>
            <a:r>
              <a:rPr lang="en-US" sz="1700">
                <a:solidFill>
                  <a:srgbClr val="333333"/>
                </a:solidFill>
                <a:latin typeface="Poppins"/>
                <a:ea typeface="Poppins"/>
                <a:cs typeface="Poppins"/>
                <a:sym typeface="Poppins"/>
              </a:rPr>
              <a:t>g</a:t>
            </a:r>
            <a:r>
              <a:rPr lang="en-US" sz="1700">
                <a:solidFill>
                  <a:srgbClr val="333333"/>
                </a:solidFill>
                <a:latin typeface="Poppins"/>
                <a:ea typeface="Poppins"/>
                <a:cs typeface="Poppins"/>
                <a:sym typeface="Poppins"/>
              </a:rPr>
              <a:t>, c</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mpatibilidad</a:t>
            </a:r>
            <a:r>
              <a:rPr lang="en-US" sz="1700">
                <a:solidFill>
                  <a:srgbClr val="333333"/>
                </a:solidFill>
                <a:latin typeface="Poppins"/>
                <a:ea typeface="Poppins"/>
                <a:cs typeface="Poppins"/>
                <a:sym typeface="Poppins"/>
              </a:rPr>
              <a:t> y </a:t>
            </a:r>
            <a:r>
              <a:rPr lang="en-US" sz="1700">
                <a:solidFill>
                  <a:srgbClr val="333333"/>
                </a:solidFill>
                <a:latin typeface="Poppins"/>
                <a:ea typeface="Poppins"/>
                <a:cs typeface="Poppins"/>
                <a:sym typeface="Poppins"/>
              </a:rPr>
              <a:t>c</a:t>
            </a:r>
            <a:r>
              <a:rPr lang="en-US" sz="1700">
                <a:solidFill>
                  <a:srgbClr val="333333"/>
                </a:solidFill>
                <a:latin typeface="Poppins"/>
                <a:ea typeface="Poppins"/>
                <a:cs typeface="Poppins"/>
                <a:sym typeface="Poppins"/>
              </a:rPr>
              <a:t>one</a:t>
            </a:r>
            <a:r>
              <a:rPr lang="en-US" sz="1700">
                <a:solidFill>
                  <a:srgbClr val="333333"/>
                </a:solidFill>
                <a:latin typeface="Poppins"/>
                <a:ea typeface="Poppins"/>
                <a:cs typeface="Poppins"/>
                <a:sym typeface="Poppins"/>
              </a:rPr>
              <a:t>x</a:t>
            </a:r>
            <a:r>
              <a:rPr lang="en-US" sz="1700">
                <a:solidFill>
                  <a:srgbClr val="333333"/>
                </a:solidFill>
                <a:latin typeface="Poppins"/>
                <a:ea typeface="Poppins"/>
                <a:cs typeface="Poppins"/>
                <a:sym typeface="Poppins"/>
              </a:rPr>
              <a:t>io</a:t>
            </a:r>
            <a:r>
              <a:rPr lang="en-US" sz="1700">
                <a:solidFill>
                  <a:srgbClr val="333333"/>
                </a:solidFill>
                <a:latin typeface="Poppins"/>
                <a:ea typeface="Poppins"/>
                <a:cs typeface="Poppins"/>
                <a:sym typeface="Poppins"/>
              </a:rPr>
              <a:t>nes</a:t>
            </a:r>
            <a:r>
              <a:rPr lang="en-US" sz="1700">
                <a:solidFill>
                  <a:srgbClr val="333333"/>
                </a:solidFill>
                <a:latin typeface="Poppins"/>
                <a:ea typeface="Poppins"/>
                <a:cs typeface="Poppins"/>
                <a:sym typeface="Poppins"/>
              </a:rPr>
              <a:t> me</a:t>
            </a:r>
            <a:r>
              <a:rPr lang="en-US" sz="1700">
                <a:solidFill>
                  <a:srgbClr val="333333"/>
                </a:solidFill>
                <a:latin typeface="Poppins"/>
                <a:ea typeface="Poppins"/>
                <a:cs typeface="Poppins"/>
                <a:sym typeface="Poppins"/>
              </a:rPr>
              <a:t>ntor-estu</a:t>
            </a:r>
            <a:r>
              <a:rPr lang="en-US" sz="1700">
                <a:solidFill>
                  <a:srgbClr val="333333"/>
                </a:solidFill>
                <a:latin typeface="Poppins"/>
                <a:ea typeface="Poppins"/>
                <a:cs typeface="Poppins"/>
                <a:sym typeface="Poppins"/>
              </a:rPr>
              <a:t>dia</a:t>
            </a:r>
            <a:r>
              <a:rPr lang="en-US" sz="1700">
                <a:solidFill>
                  <a:srgbClr val="333333"/>
                </a:solidFill>
                <a:latin typeface="Poppins"/>
                <a:ea typeface="Poppins"/>
                <a:cs typeface="Poppins"/>
                <a:sym typeface="Poppins"/>
              </a:rPr>
              <a:t>nte.</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Agenda:</a:t>
            </a:r>
            <a:r>
              <a:rPr lang="en-US" sz="1700">
                <a:solidFill>
                  <a:srgbClr val="333333"/>
                </a:solidFill>
                <a:latin typeface="Poppins"/>
                <a:ea typeface="Poppins"/>
                <a:cs typeface="Poppins"/>
                <a:sym typeface="Poppins"/>
              </a:rPr>
              <a:t> Sesiones programadas, horarios disponibles e integracion con calendarios.</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Videollamadas:</a:t>
            </a:r>
            <a:r>
              <a:rPr lang="en-US" sz="1700">
                <a:solidFill>
                  <a:srgbClr val="333333"/>
                </a:solidFill>
                <a:latin typeface="Poppins"/>
                <a:ea typeface="Poppins"/>
                <a:cs typeface="Poppins"/>
                <a:sym typeface="Poppins"/>
              </a:rPr>
              <a:t> Re</a:t>
            </a:r>
            <a:r>
              <a:rPr lang="en-US" sz="1700">
                <a:solidFill>
                  <a:srgbClr val="333333"/>
                </a:solidFill>
                <a:latin typeface="Poppins"/>
                <a:ea typeface="Poppins"/>
                <a:cs typeface="Poppins"/>
                <a:sym typeface="Poppins"/>
              </a:rPr>
              <a:t>gistr</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s d</a:t>
            </a:r>
            <a:r>
              <a:rPr lang="en-US" sz="1700">
                <a:solidFill>
                  <a:srgbClr val="333333"/>
                </a:solidFill>
                <a:latin typeface="Poppins"/>
                <a:ea typeface="Poppins"/>
                <a:cs typeface="Poppins"/>
                <a:sym typeface="Poppins"/>
              </a:rPr>
              <a:t>e</a:t>
            </a:r>
            <a:r>
              <a:rPr lang="en-US" sz="1700">
                <a:solidFill>
                  <a:srgbClr val="333333"/>
                </a:solidFill>
                <a:latin typeface="Poppins"/>
                <a:ea typeface="Poppins"/>
                <a:cs typeface="Poppins"/>
                <a:sym typeface="Poppins"/>
              </a:rPr>
              <a:t> ses</a:t>
            </a:r>
            <a:r>
              <a:rPr lang="en-US" sz="1700">
                <a:solidFill>
                  <a:srgbClr val="333333"/>
                </a:solidFill>
                <a:latin typeface="Poppins"/>
                <a:ea typeface="Poppins"/>
                <a:cs typeface="Poppins"/>
                <a:sym typeface="Poppins"/>
              </a:rPr>
              <a:t>iones </a:t>
            </a:r>
            <a:r>
              <a:rPr lang="en-US" sz="1700">
                <a:solidFill>
                  <a:srgbClr val="333333"/>
                </a:solidFill>
                <a:latin typeface="Poppins"/>
                <a:ea typeface="Poppins"/>
                <a:cs typeface="Poppins"/>
                <a:sym typeface="Poppins"/>
              </a:rPr>
              <a:t>en</a:t>
            </a:r>
            <a:r>
              <a:rPr lang="en-US" sz="1700">
                <a:solidFill>
                  <a:srgbClr val="333333"/>
                </a:solidFill>
                <a:latin typeface="Poppins"/>
                <a:ea typeface="Poppins"/>
                <a:cs typeface="Poppins"/>
                <a:sym typeface="Poppins"/>
              </a:rPr>
              <a:t> </a:t>
            </a:r>
            <a:r>
              <a:rPr lang="en-US" sz="1700">
                <a:solidFill>
                  <a:srgbClr val="333333"/>
                </a:solidFill>
                <a:latin typeface="Poppins"/>
                <a:ea typeface="Poppins"/>
                <a:cs typeface="Poppins"/>
                <a:sym typeface="Poppins"/>
              </a:rPr>
              <a:t>tiemp</a:t>
            </a:r>
            <a:r>
              <a:rPr lang="en-US" sz="1700">
                <a:solidFill>
                  <a:srgbClr val="333333"/>
                </a:solidFill>
                <a:latin typeface="Poppins"/>
                <a:ea typeface="Poppins"/>
                <a:cs typeface="Poppins"/>
                <a:sym typeface="Poppins"/>
              </a:rPr>
              <a:t>o</a:t>
            </a:r>
            <a:r>
              <a:rPr lang="en-US" sz="1700">
                <a:solidFill>
                  <a:srgbClr val="333333"/>
                </a:solidFill>
                <a:latin typeface="Poppins"/>
                <a:ea typeface="Poppins"/>
                <a:cs typeface="Poppins"/>
                <a:sym typeface="Poppins"/>
              </a:rPr>
              <a:t> real y estados de conexion.</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Reputacion:</a:t>
            </a:r>
            <a:r>
              <a:rPr lang="en-US" sz="1700">
                <a:solidFill>
                  <a:srgbClr val="333333"/>
                </a:solidFill>
                <a:latin typeface="Poppins"/>
                <a:ea typeface="Poppins"/>
                <a:cs typeface="Poppins"/>
                <a:sym typeface="Poppins"/>
              </a:rPr>
              <a:t> Calificaciones, comentarios y metricas de feedback.</a:t>
            </a:r>
          </a:p>
          <a:p>
            <a:pPr algn="l" marL="367031" indent="-183515" lvl="1">
              <a:lnSpc>
                <a:spcPts val="2550"/>
              </a:lnSpc>
              <a:buFont typeface="Arial"/>
              <a:buChar char="•"/>
            </a:pPr>
            <a:r>
              <a:rPr lang="en-US" b="true" sz="1700">
                <a:solidFill>
                  <a:srgbClr val="333333"/>
                </a:solidFill>
                <a:latin typeface="Poppins Bold"/>
                <a:ea typeface="Poppins Bold"/>
                <a:cs typeface="Poppins Bold"/>
                <a:sym typeface="Poppins Bold"/>
              </a:rPr>
              <a:t>BD Notificaciones:</a:t>
            </a:r>
            <a:r>
              <a:rPr lang="en-US" sz="1700">
                <a:solidFill>
                  <a:srgbClr val="333333"/>
                </a:solidFill>
                <a:latin typeface="Poppins"/>
                <a:ea typeface="Poppins"/>
                <a:cs typeface="Poppins"/>
                <a:sym typeface="Poppins"/>
              </a:rPr>
              <a:t> Alertas, recordatorios y preferencias de comunicacion.</a:t>
            </a:r>
          </a:p>
          <a:p>
            <a:pPr algn="just">
              <a:lnSpc>
                <a:spcPts val="2550"/>
              </a:lnSpc>
            </a:pPr>
          </a:p>
          <a:p>
            <a:pPr algn="just">
              <a:lnSpc>
                <a:spcPts val="2550"/>
              </a:lnSpc>
            </a:pPr>
            <a:r>
              <a:rPr lang="en-US" sz="1700">
                <a:solidFill>
                  <a:srgbClr val="333333"/>
                </a:solidFill>
                <a:latin typeface="Poppins"/>
                <a:ea typeface="Poppins"/>
                <a:cs typeface="Poppins"/>
                <a:sym typeface="Poppins"/>
              </a:rPr>
              <a:t>Las relaciones entre tablas (1:N, N:M) se representan mediante lineas de conexion en cada diagrama.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DAHSxNTN_98</dc:identifier>
  <dcterms:modified xsi:type="dcterms:W3CDTF">2011-08-01T06:04:30Z</dcterms:modified>
  <cp:revision>1</cp:revision>
  <dc:title>Propuesta de Proyectos de Título</dc:title>
</cp:coreProperties>
</file>